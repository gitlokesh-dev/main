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2011680"/>
            <a:ext cx="5486400" cy="5486400"/>
          </a:xfrm>
          <a:prstGeom prst="ellipse">
            <a:avLst/>
          </a:prstGeom>
          <a:solidFill>
            <a:srgbClr val="D80074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548640"/>
            <a:ext cx="2926080" cy="2926080"/>
          </a:xfrm>
          <a:prstGeom prst="ellipse">
            <a:avLst/>
          </a:prstGeom>
          <a:solidFill>
            <a:srgbClr val="FF2D8A">
              <a:alpha val="2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5120640"/>
            <a:ext cx="3291840" cy="3291840"/>
          </a:xfrm>
          <a:prstGeom prst="ellipse">
            <a:avLst/>
          </a:prstGeom>
          <a:solidFill>
            <a:srgbClr val="D80074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2331720"/>
            <a:ext cx="2331720" cy="438912"/>
          </a:xfrm>
          <a:prstGeom prst="roundRect">
            <a:avLst>
              <a:gd name="adj" fmla="val 50000"/>
            </a:avLst>
          </a:prstGeom>
          <a:solidFill>
            <a:srgbClr val="D8007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2331720"/>
            <a:ext cx="2331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960120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D800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CITRIX INTELLIGENT</a:t>
            </a:r>
            <a:endParaRPr lang="en-US" sz="44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D800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685800" y="44348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Automation Use Cases  –  Monthly Summary Report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5800" y="489204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5B5B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 under the Citrix Intelligent Operations Plan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565392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Citrix Intelligent Operations  |  SRE Automation Use Cases Monthly Summary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0515600" y="6565392"/>
            <a:ext cx="12161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800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Onboarded Use Cases – Current Usage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9646920" y="320040"/>
            <a:ext cx="2084832" cy="457200"/>
          </a:xfrm>
          <a:prstGeom prst="roundRect">
            <a:avLst>
              <a:gd name="adj" fmla="val 50000"/>
            </a:avLst>
          </a:prstGeom>
          <a:solidFill>
            <a:srgbClr val="D80074"/>
          </a:solidFill>
          <a:ln/>
        </p:spPr>
      </p:sp>
      <p:sp>
        <p:nvSpPr>
          <p:cNvPr id="4" name="Text 2"/>
          <p:cNvSpPr/>
          <p:nvPr/>
        </p:nvSpPr>
        <p:spPr>
          <a:xfrm>
            <a:off x="9646920" y="32004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LIVE USE CASES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896112"/>
            <a:ext cx="11274552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74552" cy="5257800"/>
        </p:xfrm>
        <a:graphic>
          <a:graphicData uri="http://schemas.openxmlformats.org/drawingml/2006/table">
            <a:tbl>
              <a:tblPr/>
              <a:tblGrid>
                <a:gridCol w="502920"/>
                <a:gridCol w="1920240"/>
                <a:gridCol w="3794760"/>
                <a:gridCol w="960120"/>
                <a:gridCol w="4096512"/>
              </a:tblGrid>
              <a:tr h="8763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00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 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00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 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00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(July)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00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/ Comments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0074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SOC1/2 &amp; ISAE 3402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Automation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Automates secure extraction and formatting of audit compliance data, ensuring instant availability for audits without manual intervention.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800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This automation will be utilized in the next audit cycle, starting in September.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Citrix Service Management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 to manage Citrix services on demand, including status checks, restart, and force restart.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800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Ops team has requested enhancements to the service restart handling; evaluation of the added operational value is ongoing.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FA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 C: Drive Cleanup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(TSI Automation Framework)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Proactively monitors and cleans C: drive storage to optimize performance, reduce disk space issues, and prevent timeout errors.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800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new version of the script has been onboarded to the automation framework and is expected to reduce timeouts and improve performance. Details are provided on the following slide.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 RDS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License Reporting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Ensures compliance, avoids financial penalties, supports audit readiness, and improves license forecasting.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800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Currently onboarded to Production; the usage report will be generated in August.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FA"/>
                    </a:solidFill>
                  </a:tcPr>
                </a:tc>
              </a:tr>
              <a:tr h="8763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 VC Lite 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Billing Report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Optimizes and strengthens the billing process, ensuring transparency, reducing manual effort, and improving cost control.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D800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Currently onboarded to Production; the usage report will be generated in August.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565392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Citrix Intelligent Operations  |  SRE Automation Use Cases Monthly Summary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515600" y="6565392"/>
            <a:ext cx="12161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80560" cy="6858000"/>
          </a:xfrm>
          <a:prstGeom prst="rect">
            <a:avLst/>
          </a:prstGeom>
          <a:solidFill>
            <a:srgbClr val="D80074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840480" cy="3840480"/>
          </a:xfrm>
          <a:prstGeom prst="ellipse">
            <a:avLst/>
          </a:prstGeom>
          <a:solidFill>
            <a:srgbClr val="FF2D8A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0" y="-1463040"/>
            <a:ext cx="2926080" cy="292608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234440" y="2514600"/>
            <a:ext cx="2011680" cy="201168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251460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234440" y="36118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92040" y="269748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2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92040" y="3017520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00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Completed Use Cases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4892040" y="3977640"/>
            <a:ext cx="1005840" cy="0"/>
          </a:xfrm>
          <a:prstGeom prst="line">
            <a:avLst/>
          </a:prstGeom>
          <a:noFill/>
          <a:ln w="38100">
            <a:solidFill>
              <a:srgbClr val="D800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565392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Citrix Intelligent Operations  |  SRE Automation Use Cases Monthly Summary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0515600" y="6565392"/>
            <a:ext cx="12161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800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Completed Use Cases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9646920" y="320040"/>
            <a:ext cx="2084832" cy="457200"/>
          </a:xfrm>
          <a:prstGeom prst="roundRect">
            <a:avLst>
              <a:gd name="adj" fmla="val 50000"/>
            </a:avLst>
          </a:prstGeom>
          <a:solidFill>
            <a:srgbClr val="D80074"/>
          </a:solidFill>
          <a:ln/>
        </p:spPr>
      </p:sp>
      <p:sp>
        <p:nvSpPr>
          <p:cNvPr id="4" name="Text 2"/>
          <p:cNvSpPr/>
          <p:nvPr/>
        </p:nvSpPr>
        <p:spPr>
          <a:xfrm>
            <a:off x="9646920" y="32004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DELIVERED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896112"/>
            <a:ext cx="11274552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74552" cy="2377440"/>
        </p:xfrm>
        <a:graphic>
          <a:graphicData uri="http://schemas.openxmlformats.org/drawingml/2006/table">
            <a:tbl>
              <a:tblPr/>
              <a:tblGrid>
                <a:gridCol w="457200"/>
                <a:gridCol w="1417320"/>
                <a:gridCol w="1965960"/>
                <a:gridCol w="2331720"/>
                <a:gridCol w="2606040"/>
                <a:gridCol w="777240"/>
                <a:gridCol w="1719072"/>
              </a:tblGrid>
              <a:tr h="1188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00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 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00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00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Automation Description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00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&amp; Benefits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00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00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/ Comments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0074"/>
                    </a:solidFill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SSL Certificate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Lifecycle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Ensure secure connectivity, maintain compliance, protect business continuity, and reduce the risk of outages.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Automates SSL certificate issuance, renewal, and deployment across the Citrix infrastructure.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spcAft>
                          <a:spcPts val="40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Prevents outages due to expired certificates.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spcAft>
                          <a:spcPts val="40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Ensures continuous secure connectivity.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spcAft>
                          <a:spcPts val="40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Maintains compliance with industry standards.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spcAft>
                          <a:spcPts val="400"/>
                        </a:spcAft>
                        <a:buNone/>
                      </a:pPr>
                      <a:r>
                        <a:rPr lang="en-US" sz="9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Reduces manual certificate management workload.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800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 Jul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800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UAT in progress; the Camunda team is integrating the script into the Production environment.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397764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FF6FA"/>
          </a:solidFill>
          <a:ln w="12700">
            <a:solidFill>
              <a:srgbClr val="F1D3E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" y="4251960"/>
            <a:ext cx="640080" cy="640080"/>
          </a:xfrm>
          <a:prstGeom prst="ellipse">
            <a:avLst/>
          </a:prstGeom>
          <a:solidFill>
            <a:srgbClr val="D80074"/>
          </a:solidFill>
          <a:ln/>
        </p:spPr>
      </p:sp>
      <p:sp>
        <p:nvSpPr>
          <p:cNvPr id="9" name="Text 6"/>
          <p:cNvSpPr/>
          <p:nvPr/>
        </p:nvSpPr>
        <p:spPr>
          <a:xfrm>
            <a:off x="777240" y="4251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1554480" y="42062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certificate-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outages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261104" y="397764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FF6FA"/>
          </a:solidFill>
          <a:ln w="12700">
            <a:solidFill>
              <a:srgbClr val="F1D3E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81144" y="4251960"/>
            <a:ext cx="640080" cy="640080"/>
          </a:xfrm>
          <a:prstGeom prst="ellipse">
            <a:avLst/>
          </a:prstGeom>
          <a:solidFill>
            <a:srgbClr val="D80074"/>
          </a:solidFill>
          <a:ln/>
        </p:spPr>
      </p:sp>
      <p:sp>
        <p:nvSpPr>
          <p:cNvPr id="13" name="Text 10"/>
          <p:cNvSpPr/>
          <p:nvPr/>
        </p:nvSpPr>
        <p:spPr>
          <a:xfrm>
            <a:off x="4581144" y="4251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358384" y="42062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renewal cycle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065008" y="3977640"/>
            <a:ext cx="3566160" cy="1737360"/>
          </a:xfrm>
          <a:prstGeom prst="roundRect">
            <a:avLst>
              <a:gd name="adj" fmla="val 5263"/>
            </a:avLst>
          </a:prstGeom>
          <a:solidFill>
            <a:srgbClr val="FFF6FA"/>
          </a:solidFill>
          <a:ln w="12700">
            <a:solidFill>
              <a:srgbClr val="F1D3E3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385048" y="4251960"/>
            <a:ext cx="640080" cy="640080"/>
          </a:xfrm>
          <a:prstGeom prst="ellipse">
            <a:avLst/>
          </a:prstGeom>
          <a:solidFill>
            <a:srgbClr val="D80074"/>
          </a:solidFill>
          <a:ln/>
        </p:spPr>
      </p:sp>
      <p:sp>
        <p:nvSpPr>
          <p:cNvPr id="17" name="Text 14"/>
          <p:cNvSpPr/>
          <p:nvPr/>
        </p:nvSpPr>
        <p:spPr>
          <a:xfrm>
            <a:off x="8385048" y="42519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9162288" y="42062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</a:t>
            </a:r>
            <a:endParaRPr lang="en-US" sz="1250" dirty="0"/>
          </a:p>
          <a:p>
            <a:pPr indent="0" marL="0">
              <a:buNone/>
            </a:pPr>
            <a:r>
              <a:rPr lang="en-US" sz="1250" b="1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57200" y="6565392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Citrix Intelligent Operations  |  SRE Automation Use Cases Monthly Summary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10515600" y="6565392"/>
            <a:ext cx="12161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480560" cy="6858000"/>
          </a:xfrm>
          <a:prstGeom prst="rect">
            <a:avLst/>
          </a:prstGeom>
          <a:solidFill>
            <a:srgbClr val="D80074"/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846320"/>
            <a:ext cx="3840480" cy="3840480"/>
          </a:xfrm>
          <a:prstGeom prst="ellipse">
            <a:avLst/>
          </a:prstGeom>
          <a:solidFill>
            <a:srgbClr val="FF2D8A">
              <a:alpha val="3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2743200" y="-1463040"/>
            <a:ext cx="2926080" cy="292608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234440" y="2514600"/>
            <a:ext cx="2011680" cy="2011680"/>
          </a:xfrm>
          <a:prstGeom prst="ellipse">
            <a:avLst/>
          </a:prstGeom>
          <a:solidFill>
            <a:srgbClr val="FFFFFF">
              <a:alpha val="12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2514600"/>
            <a:ext cx="20116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234440" y="361188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FOR 2026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892040" y="2697480"/>
            <a:ext cx="6583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F2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03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92040" y="3017520"/>
            <a:ext cx="6583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D800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Backlog Use Cases</a:t>
            </a:r>
            <a:endParaRPr lang="en-US" sz="3800" dirty="0"/>
          </a:p>
        </p:txBody>
      </p:sp>
      <p:sp>
        <p:nvSpPr>
          <p:cNvPr id="10" name="Shape 8"/>
          <p:cNvSpPr/>
          <p:nvPr/>
        </p:nvSpPr>
        <p:spPr>
          <a:xfrm>
            <a:off x="4892040" y="3977640"/>
            <a:ext cx="1005840" cy="0"/>
          </a:xfrm>
          <a:prstGeom prst="line">
            <a:avLst/>
          </a:prstGeom>
          <a:noFill/>
          <a:ln w="38100">
            <a:solidFill>
              <a:srgbClr val="D8007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6565392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Citrix Intelligent Operations  |  SRE Automation Use Cases Monthly Summary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0515600" y="6565392"/>
            <a:ext cx="12161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800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Backlog Use Cases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9646920" y="320040"/>
            <a:ext cx="2084832" cy="457200"/>
          </a:xfrm>
          <a:prstGeom prst="roundRect">
            <a:avLst>
              <a:gd name="adj" fmla="val 50000"/>
            </a:avLst>
          </a:prstGeom>
          <a:solidFill>
            <a:srgbClr val="D80074"/>
          </a:solidFill>
          <a:ln/>
        </p:spPr>
      </p:sp>
      <p:sp>
        <p:nvSpPr>
          <p:cNvPr id="4" name="Text 2"/>
          <p:cNvSpPr/>
          <p:nvPr/>
        </p:nvSpPr>
        <p:spPr>
          <a:xfrm>
            <a:off x="9646920" y="32004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1–8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896112"/>
            <a:ext cx="11274552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74552" cy="5257800"/>
        </p:xfrm>
        <a:graphic>
          <a:graphicData uri="http://schemas.openxmlformats.org/drawingml/2006/table">
            <a:tbl>
              <a:tblPr/>
              <a:tblGrid>
                <a:gridCol w="640080"/>
                <a:gridCol w="2880360"/>
                <a:gridCol w="3657600"/>
                <a:gridCol w="868680"/>
                <a:gridCol w="685800"/>
                <a:gridCol w="2542032"/>
              </a:tblGrid>
              <a:tr h="584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00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 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00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00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00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00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0074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 Lite Image Patching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Maintain system reliability, reduce vulnerabilities, ensure a smooth user experience, and minimize downtime.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800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 for this year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Automated Profile Refresh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Enhance user experience, reduce login issues, and improve application stability.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800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 for this year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FA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 Layer Transfer Between Regions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Ensure resilience, enable disaster recovery, and reduce the risk of service disruption.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800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 for this year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Automate Weekly User Log Review for GPO Compliance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Enforce policies, detect issues early, and strengthen audit readiness.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800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 for this year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FA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 Cleanup of Application Drives (D &amp; E)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up storage, prevent incidents and related service impact from full drives, and maintain desktop performance.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800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 for this year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Utilization Monitoring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 performance, prevent bottlenecks, and support scaling.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800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 for this year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FA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User-Triggered Profile Reset – Feasibility Assessment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Enable users to reset their profile on demand, at any time.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800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 for this year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Citrix Application Onboarding Automation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Accelerate application delivery, reduce manual effort, improve consistency, and enhance business agility.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800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 for this year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F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565392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Citrix Intelligent Operations  |  SRE Automation Use Cases Monthly Summary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515600" y="6565392"/>
            <a:ext cx="12161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8007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Backlog Use Cases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9646920" y="320040"/>
            <a:ext cx="2084832" cy="457200"/>
          </a:xfrm>
          <a:prstGeom prst="roundRect">
            <a:avLst>
              <a:gd name="adj" fmla="val 50000"/>
            </a:avLst>
          </a:prstGeom>
          <a:solidFill>
            <a:srgbClr val="D80074"/>
          </a:solidFill>
          <a:ln/>
        </p:spPr>
      </p:sp>
      <p:sp>
        <p:nvSpPr>
          <p:cNvPr id="4" name="Text 2"/>
          <p:cNvSpPr/>
          <p:nvPr/>
        </p:nvSpPr>
        <p:spPr>
          <a:xfrm>
            <a:off x="9646920" y="32004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 9–16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896112"/>
            <a:ext cx="11274552" cy="0"/>
          </a:xfrm>
          <a:prstGeom prst="line">
            <a:avLst/>
          </a:prstGeom>
          <a:noFill/>
          <a:ln w="12700">
            <a:solidFill>
              <a:srgbClr val="E8E8E8"/>
            </a:solidFill>
            <a:prstDash val="solid"/>
          </a:ln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11274552" cy="5257800"/>
        </p:xfrm>
        <a:graphic>
          <a:graphicData uri="http://schemas.openxmlformats.org/drawingml/2006/table">
            <a:tbl>
              <a:tblPr/>
              <a:tblGrid>
                <a:gridCol w="640080"/>
                <a:gridCol w="2880360"/>
                <a:gridCol w="3657600"/>
                <a:gridCol w="868680"/>
                <a:gridCol w="685800"/>
                <a:gridCol w="2542032"/>
              </a:tblGrid>
              <a:tr h="584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S.No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00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Case 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00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Objective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00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00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007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0074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Desktop Publishing Automation (VC Desktop)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Increase operational efficiency, reduce turnaround time, improve agility, and support faster user onboarding.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800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 for this year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Studio Policy Automation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Standardize governance, improve compliance, reduce configuration errors, and ensure policy consistency.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800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 for this year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FA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VC Desktop Upgrades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 systems current, enhance user experience, reduce downtime, and support long-term scalability.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800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 for this year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 List for Patching and Monitoring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Ensure patch compliance, improve visibility, and reduce vulnerabilities across environments.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800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 for this year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FA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Unused VDI Deletion (Last 3 Months)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 resource utilization, reduce costs, and improve operational efficiency.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800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 for this year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 Checklist – Panorama &amp; Palo Alto Firewall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Strengthen security posture, ensure compliance, and reduce the risk of outages.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800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 for this year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FA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Citrix DR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Ensure business continuity, minimize downtime, and strengthen resilience.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800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Planned for this year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Testing – Multiple Applications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 quality assurance, reduce defects, and enhance customer satisfaction.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D8007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B2B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F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5B5B5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Commercial engagement – scope to be finalized.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DED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FA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565392"/>
            <a:ext cx="8686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Citrix Intelligent Operations  |  SRE Automation Use Cases Monthly Summary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0515600" y="6565392"/>
            <a:ext cx="121615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8007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011680"/>
            <a:ext cx="5486400" cy="5486400"/>
          </a:xfrm>
          <a:prstGeom prst="ellipse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3840480"/>
            <a:ext cx="5029200" cy="5029200"/>
          </a:xfrm>
          <a:prstGeom prst="ellipse">
            <a:avLst/>
          </a:prstGeom>
          <a:solidFill>
            <a:srgbClr val="FF2D8A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2651760"/>
            <a:ext cx="10789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731520" y="3657600"/>
            <a:ext cx="1005840" cy="0"/>
          </a:xfrm>
          <a:prstGeom prst="line">
            <a:avLst/>
          </a:prstGeom>
          <a:noFill/>
          <a:ln w="381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379476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Citrix Intelligent Operations Automation Program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D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Citrix Intelligent Operations  |  SRE Automation Use Cases Monthly Summary  |  July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T-Systems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Citrix Intelligent Operations</dc:creator>
  <cp:lastModifiedBy>Citrix Intelligent Operations</cp:lastModifiedBy>
  <cp:revision>1</cp:revision>
  <dcterms:created xsi:type="dcterms:W3CDTF">2026-07-28T02:06:56Z</dcterms:created>
  <dcterms:modified xsi:type="dcterms:W3CDTF">2026-07-28T02:06:56Z</dcterms:modified>
</cp:coreProperties>
</file>