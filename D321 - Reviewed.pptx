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7734" r:id="rId2"/>
    <p:sldId id="16040" r:id="rId3"/>
    <p:sldId id="8395" r:id="rId4"/>
    <p:sldId id="8399" r:id="rId5"/>
    <p:sldId id="708" r:id="rId6"/>
    <p:sldId id="7722" r:id="rId7"/>
    <p:sldId id="7723" r:id="rId8"/>
    <p:sldId id="7724" r:id="rId9"/>
    <p:sldId id="7725" r:id="rId10"/>
    <p:sldId id="7726" r:id="rId11"/>
    <p:sldId id="7727" r:id="rId12"/>
    <p:sldId id="7728" r:id="rId13"/>
    <p:sldId id="7729" r:id="rId14"/>
    <p:sldId id="7730" r:id="rId15"/>
    <p:sldId id="7731" r:id="rId16"/>
    <p:sldId id="7732" r:id="rId17"/>
    <p:sldId id="7733" r:id="rId18"/>
    <p:sldId id="71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AAA27-67FD-4445-9EA9-B0D73CAF6648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B24E3-3C61-4899-9847-C61B87A0F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3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895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24AC54-048D-4981-AB37-933CE16895F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pPr marL="0" marR="0" lvl="0" indent="0" algn="r" defTabSz="8895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ヒラギノ角ゴ Pro W3" pitchFamily="12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788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195263" y="403225"/>
            <a:ext cx="6407150" cy="3603625"/>
          </a:xfrm>
        </p:spPr>
      </p:sp>
      <p:sp>
        <p:nvSpPr>
          <p:cNvPr id="4" name="Notizenplatzhalt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52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97663-D53D-4421-A2F3-0C076A0529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TeleGrotesk Next" pitchFamily="2" charset="0"/>
                <a:ea typeface="+mn-ea"/>
                <a:cs typeface="+mn-cs"/>
              </a:rPr>
              <a:pPr marL="0" marR="0" lvl="0" indent="0" algn="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TeleGrotesk Nex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983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195263" y="403225"/>
            <a:ext cx="6407150" cy="3603625"/>
          </a:xfrm>
        </p:spPr>
      </p:sp>
      <p:sp>
        <p:nvSpPr>
          <p:cNvPr id="4" name="Notizenplatzhalt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52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97663-D53D-4421-A2F3-0C076A0529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TeleGrotesk Next" pitchFamily="2" charset="0"/>
                <a:ea typeface="+mn-ea"/>
                <a:cs typeface="+mn-cs"/>
              </a:rPr>
              <a:pPr marL="0" marR="0" lvl="0" indent="0" algn="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TeleGrotesk Nex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259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24E3-3C61-4899-9847-C61B87A0FEA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8809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418F-FFF0-4266-B3C9-FDF1E2D2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E06DCA-F66A-4707-B30A-A1EDA0BB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48CB9-6F4C-402F-9859-3CA31F5C425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5334D-6FCF-42A7-8FA9-FCF0C0EA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A975-90A0-4896-90BF-DBD63EDC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4DC3-69AA-4CB8-ABD9-7B6674510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68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lan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48E673EF-7D81-46BF-B450-0CBD30E9B8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custGeom>
            <a:avLst/>
            <a:gdLst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546112 w 12192000"/>
              <a:gd name="connsiteY7" fmla="*/ 4509000 h 6858000"/>
              <a:gd name="connsiteX8" fmla="*/ 1691816 w 12192000"/>
              <a:gd name="connsiteY8" fmla="*/ 4509000 h 6858000"/>
              <a:gd name="connsiteX9" fmla="*/ 1699674 w 12192000"/>
              <a:gd name="connsiteY9" fmla="*/ 4509000 h 6858000"/>
              <a:gd name="connsiteX10" fmla="*/ 1861287 w 12192000"/>
              <a:gd name="connsiteY10" fmla="*/ 4509000 h 6858000"/>
              <a:gd name="connsiteX11" fmla="*/ 1869932 w 12192000"/>
              <a:gd name="connsiteY11" fmla="*/ 4509000 h 6858000"/>
              <a:gd name="connsiteX12" fmla="*/ 2227928 w 12192000"/>
              <a:gd name="connsiteY12" fmla="*/ 4509000 h 6858000"/>
              <a:gd name="connsiteX13" fmla="*/ 2238276 w 12192000"/>
              <a:gd name="connsiteY13" fmla="*/ 4509000 h 6858000"/>
              <a:gd name="connsiteX14" fmla="*/ 2594568 w 12192000"/>
              <a:gd name="connsiteY14" fmla="*/ 4509000 h 6858000"/>
              <a:gd name="connsiteX15" fmla="*/ 2606619 w 12192000"/>
              <a:gd name="connsiteY15" fmla="*/ 4509000 h 6858000"/>
              <a:gd name="connsiteX16" fmla="*/ 2764039 w 12192000"/>
              <a:gd name="connsiteY16" fmla="*/ 4509000 h 6858000"/>
              <a:gd name="connsiteX17" fmla="*/ 2776877 w 12192000"/>
              <a:gd name="connsiteY17" fmla="*/ 4509000 h 6858000"/>
              <a:gd name="connsiteX18" fmla="*/ 2916890 w 12192000"/>
              <a:gd name="connsiteY18" fmla="*/ 4509000 h 6858000"/>
              <a:gd name="connsiteX19" fmla="*/ 2930438 w 12192000"/>
              <a:gd name="connsiteY19" fmla="*/ 4509000 h 6858000"/>
              <a:gd name="connsiteX20" fmla="*/ 6257159 w 12192000"/>
              <a:gd name="connsiteY20" fmla="*/ 4509000 h 6858000"/>
              <a:gd name="connsiteX21" fmla="*/ 6286220 w 12192000"/>
              <a:gd name="connsiteY21" fmla="*/ 4509000 h 6858000"/>
              <a:gd name="connsiteX22" fmla="*/ 6979034 w 12192000"/>
              <a:gd name="connsiteY22" fmla="*/ 3819388 h 6858000"/>
              <a:gd name="connsiteX23" fmla="*/ 6979034 w 12192000"/>
              <a:gd name="connsiteY23" fmla="*/ 3140165 h 6858000"/>
              <a:gd name="connsiteX24" fmla="*/ 7671849 w 12192000"/>
              <a:gd name="connsiteY24" fmla="*/ 2450553 h 6858000"/>
              <a:gd name="connsiteX25" fmla="*/ 8029891 w 12192000"/>
              <a:gd name="connsiteY25" fmla="*/ 2450553 h 6858000"/>
              <a:gd name="connsiteX26" fmla="*/ 8067185 w 12192000"/>
              <a:gd name="connsiteY26" fmla="*/ 2450553 h 6858000"/>
              <a:gd name="connsiteX27" fmla="*/ 8759999 w 12192000"/>
              <a:gd name="connsiteY27" fmla="*/ 1760941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691816 w 12192000"/>
              <a:gd name="connsiteY7" fmla="*/ 4509000 h 6858000"/>
              <a:gd name="connsiteX8" fmla="*/ 1699674 w 12192000"/>
              <a:gd name="connsiteY8" fmla="*/ 4509000 h 6858000"/>
              <a:gd name="connsiteX9" fmla="*/ 1861287 w 12192000"/>
              <a:gd name="connsiteY9" fmla="*/ 4509000 h 6858000"/>
              <a:gd name="connsiteX10" fmla="*/ 1869932 w 12192000"/>
              <a:gd name="connsiteY10" fmla="*/ 4509000 h 6858000"/>
              <a:gd name="connsiteX11" fmla="*/ 2227928 w 12192000"/>
              <a:gd name="connsiteY11" fmla="*/ 4509000 h 6858000"/>
              <a:gd name="connsiteX12" fmla="*/ 2238276 w 12192000"/>
              <a:gd name="connsiteY12" fmla="*/ 4509000 h 6858000"/>
              <a:gd name="connsiteX13" fmla="*/ 2594568 w 12192000"/>
              <a:gd name="connsiteY13" fmla="*/ 4509000 h 6858000"/>
              <a:gd name="connsiteX14" fmla="*/ 2606619 w 12192000"/>
              <a:gd name="connsiteY14" fmla="*/ 4509000 h 6858000"/>
              <a:gd name="connsiteX15" fmla="*/ 2764039 w 12192000"/>
              <a:gd name="connsiteY15" fmla="*/ 4509000 h 6858000"/>
              <a:gd name="connsiteX16" fmla="*/ 2776877 w 12192000"/>
              <a:gd name="connsiteY16" fmla="*/ 4509000 h 6858000"/>
              <a:gd name="connsiteX17" fmla="*/ 2916890 w 12192000"/>
              <a:gd name="connsiteY17" fmla="*/ 4509000 h 6858000"/>
              <a:gd name="connsiteX18" fmla="*/ 2930438 w 12192000"/>
              <a:gd name="connsiteY18" fmla="*/ 4509000 h 6858000"/>
              <a:gd name="connsiteX19" fmla="*/ 6257159 w 12192000"/>
              <a:gd name="connsiteY19" fmla="*/ 4509000 h 6858000"/>
              <a:gd name="connsiteX20" fmla="*/ 6286220 w 12192000"/>
              <a:gd name="connsiteY20" fmla="*/ 4509000 h 6858000"/>
              <a:gd name="connsiteX21" fmla="*/ 6979034 w 12192000"/>
              <a:gd name="connsiteY21" fmla="*/ 3819388 h 6858000"/>
              <a:gd name="connsiteX22" fmla="*/ 6979034 w 12192000"/>
              <a:gd name="connsiteY22" fmla="*/ 3140165 h 6858000"/>
              <a:gd name="connsiteX23" fmla="*/ 7671849 w 12192000"/>
              <a:gd name="connsiteY23" fmla="*/ 2450553 h 6858000"/>
              <a:gd name="connsiteX24" fmla="*/ 8029891 w 12192000"/>
              <a:gd name="connsiteY24" fmla="*/ 2450553 h 6858000"/>
              <a:gd name="connsiteX25" fmla="*/ 8067185 w 12192000"/>
              <a:gd name="connsiteY25" fmla="*/ 2450553 h 6858000"/>
              <a:gd name="connsiteX26" fmla="*/ 8759999 w 12192000"/>
              <a:gd name="connsiteY26" fmla="*/ 1760941 h 6858000"/>
              <a:gd name="connsiteX27" fmla="*/ 8759999 w 12192000"/>
              <a:gd name="connsiteY27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691816 w 12192000"/>
              <a:gd name="connsiteY7" fmla="*/ 4509000 h 6858000"/>
              <a:gd name="connsiteX8" fmla="*/ 1861287 w 12192000"/>
              <a:gd name="connsiteY8" fmla="*/ 4509000 h 6858000"/>
              <a:gd name="connsiteX9" fmla="*/ 1869932 w 12192000"/>
              <a:gd name="connsiteY9" fmla="*/ 4509000 h 6858000"/>
              <a:gd name="connsiteX10" fmla="*/ 2227928 w 12192000"/>
              <a:gd name="connsiteY10" fmla="*/ 4509000 h 6858000"/>
              <a:gd name="connsiteX11" fmla="*/ 2238276 w 12192000"/>
              <a:gd name="connsiteY11" fmla="*/ 4509000 h 6858000"/>
              <a:gd name="connsiteX12" fmla="*/ 2594568 w 12192000"/>
              <a:gd name="connsiteY12" fmla="*/ 4509000 h 6858000"/>
              <a:gd name="connsiteX13" fmla="*/ 2606619 w 12192000"/>
              <a:gd name="connsiteY13" fmla="*/ 4509000 h 6858000"/>
              <a:gd name="connsiteX14" fmla="*/ 2764039 w 12192000"/>
              <a:gd name="connsiteY14" fmla="*/ 4509000 h 6858000"/>
              <a:gd name="connsiteX15" fmla="*/ 2776877 w 12192000"/>
              <a:gd name="connsiteY15" fmla="*/ 4509000 h 6858000"/>
              <a:gd name="connsiteX16" fmla="*/ 2916890 w 12192000"/>
              <a:gd name="connsiteY16" fmla="*/ 4509000 h 6858000"/>
              <a:gd name="connsiteX17" fmla="*/ 2930438 w 12192000"/>
              <a:gd name="connsiteY17" fmla="*/ 4509000 h 6858000"/>
              <a:gd name="connsiteX18" fmla="*/ 6257159 w 12192000"/>
              <a:gd name="connsiteY18" fmla="*/ 4509000 h 6858000"/>
              <a:gd name="connsiteX19" fmla="*/ 6286220 w 12192000"/>
              <a:gd name="connsiteY19" fmla="*/ 4509000 h 6858000"/>
              <a:gd name="connsiteX20" fmla="*/ 6979034 w 12192000"/>
              <a:gd name="connsiteY20" fmla="*/ 3819388 h 6858000"/>
              <a:gd name="connsiteX21" fmla="*/ 6979034 w 12192000"/>
              <a:gd name="connsiteY21" fmla="*/ 3140165 h 6858000"/>
              <a:gd name="connsiteX22" fmla="*/ 7671849 w 12192000"/>
              <a:gd name="connsiteY22" fmla="*/ 2450553 h 6858000"/>
              <a:gd name="connsiteX23" fmla="*/ 8029891 w 12192000"/>
              <a:gd name="connsiteY23" fmla="*/ 2450553 h 6858000"/>
              <a:gd name="connsiteX24" fmla="*/ 8067185 w 12192000"/>
              <a:gd name="connsiteY24" fmla="*/ 2450553 h 6858000"/>
              <a:gd name="connsiteX25" fmla="*/ 8759999 w 12192000"/>
              <a:gd name="connsiteY25" fmla="*/ 1760941 h 6858000"/>
              <a:gd name="connsiteX26" fmla="*/ 8759999 w 12192000"/>
              <a:gd name="connsiteY26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861287 w 12192000"/>
              <a:gd name="connsiteY7" fmla="*/ 4509000 h 6858000"/>
              <a:gd name="connsiteX8" fmla="*/ 1869932 w 12192000"/>
              <a:gd name="connsiteY8" fmla="*/ 4509000 h 6858000"/>
              <a:gd name="connsiteX9" fmla="*/ 2227928 w 12192000"/>
              <a:gd name="connsiteY9" fmla="*/ 4509000 h 6858000"/>
              <a:gd name="connsiteX10" fmla="*/ 2238276 w 12192000"/>
              <a:gd name="connsiteY10" fmla="*/ 4509000 h 6858000"/>
              <a:gd name="connsiteX11" fmla="*/ 2594568 w 12192000"/>
              <a:gd name="connsiteY11" fmla="*/ 4509000 h 6858000"/>
              <a:gd name="connsiteX12" fmla="*/ 2606619 w 12192000"/>
              <a:gd name="connsiteY12" fmla="*/ 4509000 h 6858000"/>
              <a:gd name="connsiteX13" fmla="*/ 2764039 w 12192000"/>
              <a:gd name="connsiteY13" fmla="*/ 4509000 h 6858000"/>
              <a:gd name="connsiteX14" fmla="*/ 2776877 w 12192000"/>
              <a:gd name="connsiteY14" fmla="*/ 4509000 h 6858000"/>
              <a:gd name="connsiteX15" fmla="*/ 2916890 w 12192000"/>
              <a:gd name="connsiteY15" fmla="*/ 4509000 h 6858000"/>
              <a:gd name="connsiteX16" fmla="*/ 2930438 w 12192000"/>
              <a:gd name="connsiteY16" fmla="*/ 4509000 h 6858000"/>
              <a:gd name="connsiteX17" fmla="*/ 6257159 w 12192000"/>
              <a:gd name="connsiteY17" fmla="*/ 4509000 h 6858000"/>
              <a:gd name="connsiteX18" fmla="*/ 6286220 w 12192000"/>
              <a:gd name="connsiteY18" fmla="*/ 4509000 h 6858000"/>
              <a:gd name="connsiteX19" fmla="*/ 6979034 w 12192000"/>
              <a:gd name="connsiteY19" fmla="*/ 3819388 h 6858000"/>
              <a:gd name="connsiteX20" fmla="*/ 6979034 w 12192000"/>
              <a:gd name="connsiteY20" fmla="*/ 3140165 h 6858000"/>
              <a:gd name="connsiteX21" fmla="*/ 7671849 w 12192000"/>
              <a:gd name="connsiteY21" fmla="*/ 2450553 h 6858000"/>
              <a:gd name="connsiteX22" fmla="*/ 8029891 w 12192000"/>
              <a:gd name="connsiteY22" fmla="*/ 2450553 h 6858000"/>
              <a:gd name="connsiteX23" fmla="*/ 8067185 w 12192000"/>
              <a:gd name="connsiteY23" fmla="*/ 2450553 h 6858000"/>
              <a:gd name="connsiteX24" fmla="*/ 8759999 w 12192000"/>
              <a:gd name="connsiteY24" fmla="*/ 1760941 h 6858000"/>
              <a:gd name="connsiteX25" fmla="*/ 8759999 w 12192000"/>
              <a:gd name="connsiteY25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861287 w 12192000"/>
              <a:gd name="connsiteY7" fmla="*/ 4509000 h 6858000"/>
              <a:gd name="connsiteX8" fmla="*/ 2227928 w 12192000"/>
              <a:gd name="connsiteY8" fmla="*/ 4509000 h 6858000"/>
              <a:gd name="connsiteX9" fmla="*/ 2238276 w 12192000"/>
              <a:gd name="connsiteY9" fmla="*/ 4509000 h 6858000"/>
              <a:gd name="connsiteX10" fmla="*/ 2594568 w 12192000"/>
              <a:gd name="connsiteY10" fmla="*/ 4509000 h 6858000"/>
              <a:gd name="connsiteX11" fmla="*/ 2606619 w 12192000"/>
              <a:gd name="connsiteY11" fmla="*/ 4509000 h 6858000"/>
              <a:gd name="connsiteX12" fmla="*/ 2764039 w 12192000"/>
              <a:gd name="connsiteY12" fmla="*/ 4509000 h 6858000"/>
              <a:gd name="connsiteX13" fmla="*/ 2776877 w 12192000"/>
              <a:gd name="connsiteY13" fmla="*/ 4509000 h 6858000"/>
              <a:gd name="connsiteX14" fmla="*/ 2916890 w 12192000"/>
              <a:gd name="connsiteY14" fmla="*/ 4509000 h 6858000"/>
              <a:gd name="connsiteX15" fmla="*/ 2930438 w 12192000"/>
              <a:gd name="connsiteY15" fmla="*/ 4509000 h 6858000"/>
              <a:gd name="connsiteX16" fmla="*/ 6257159 w 12192000"/>
              <a:gd name="connsiteY16" fmla="*/ 4509000 h 6858000"/>
              <a:gd name="connsiteX17" fmla="*/ 6286220 w 12192000"/>
              <a:gd name="connsiteY17" fmla="*/ 4509000 h 6858000"/>
              <a:gd name="connsiteX18" fmla="*/ 6979034 w 12192000"/>
              <a:gd name="connsiteY18" fmla="*/ 3819388 h 6858000"/>
              <a:gd name="connsiteX19" fmla="*/ 6979034 w 12192000"/>
              <a:gd name="connsiteY19" fmla="*/ 3140165 h 6858000"/>
              <a:gd name="connsiteX20" fmla="*/ 7671849 w 12192000"/>
              <a:gd name="connsiteY20" fmla="*/ 2450553 h 6858000"/>
              <a:gd name="connsiteX21" fmla="*/ 8029891 w 12192000"/>
              <a:gd name="connsiteY21" fmla="*/ 2450553 h 6858000"/>
              <a:gd name="connsiteX22" fmla="*/ 8067185 w 12192000"/>
              <a:gd name="connsiteY22" fmla="*/ 2450553 h 6858000"/>
              <a:gd name="connsiteX23" fmla="*/ 8759999 w 12192000"/>
              <a:gd name="connsiteY23" fmla="*/ 1760941 h 6858000"/>
              <a:gd name="connsiteX24" fmla="*/ 8759999 w 12192000"/>
              <a:gd name="connsiteY24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238276 w 12192000"/>
              <a:gd name="connsiteY8" fmla="*/ 4509000 h 6858000"/>
              <a:gd name="connsiteX9" fmla="*/ 2594568 w 12192000"/>
              <a:gd name="connsiteY9" fmla="*/ 4509000 h 6858000"/>
              <a:gd name="connsiteX10" fmla="*/ 2606619 w 12192000"/>
              <a:gd name="connsiteY10" fmla="*/ 4509000 h 6858000"/>
              <a:gd name="connsiteX11" fmla="*/ 2764039 w 12192000"/>
              <a:gd name="connsiteY11" fmla="*/ 4509000 h 6858000"/>
              <a:gd name="connsiteX12" fmla="*/ 2776877 w 12192000"/>
              <a:gd name="connsiteY12" fmla="*/ 4509000 h 6858000"/>
              <a:gd name="connsiteX13" fmla="*/ 2916890 w 12192000"/>
              <a:gd name="connsiteY13" fmla="*/ 4509000 h 6858000"/>
              <a:gd name="connsiteX14" fmla="*/ 2930438 w 12192000"/>
              <a:gd name="connsiteY14" fmla="*/ 4509000 h 6858000"/>
              <a:gd name="connsiteX15" fmla="*/ 6257159 w 12192000"/>
              <a:gd name="connsiteY15" fmla="*/ 4509000 h 6858000"/>
              <a:gd name="connsiteX16" fmla="*/ 6286220 w 12192000"/>
              <a:gd name="connsiteY16" fmla="*/ 4509000 h 6858000"/>
              <a:gd name="connsiteX17" fmla="*/ 6979034 w 12192000"/>
              <a:gd name="connsiteY17" fmla="*/ 3819388 h 6858000"/>
              <a:gd name="connsiteX18" fmla="*/ 6979034 w 12192000"/>
              <a:gd name="connsiteY18" fmla="*/ 3140165 h 6858000"/>
              <a:gd name="connsiteX19" fmla="*/ 7671849 w 12192000"/>
              <a:gd name="connsiteY19" fmla="*/ 2450553 h 6858000"/>
              <a:gd name="connsiteX20" fmla="*/ 8029891 w 12192000"/>
              <a:gd name="connsiteY20" fmla="*/ 2450553 h 6858000"/>
              <a:gd name="connsiteX21" fmla="*/ 8067185 w 12192000"/>
              <a:gd name="connsiteY21" fmla="*/ 2450553 h 6858000"/>
              <a:gd name="connsiteX22" fmla="*/ 8759999 w 12192000"/>
              <a:gd name="connsiteY22" fmla="*/ 1760941 h 6858000"/>
              <a:gd name="connsiteX23" fmla="*/ 8759999 w 12192000"/>
              <a:gd name="connsiteY23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606619 w 12192000"/>
              <a:gd name="connsiteY9" fmla="*/ 4509000 h 6858000"/>
              <a:gd name="connsiteX10" fmla="*/ 2764039 w 12192000"/>
              <a:gd name="connsiteY10" fmla="*/ 4509000 h 6858000"/>
              <a:gd name="connsiteX11" fmla="*/ 2776877 w 12192000"/>
              <a:gd name="connsiteY11" fmla="*/ 4509000 h 6858000"/>
              <a:gd name="connsiteX12" fmla="*/ 2916890 w 12192000"/>
              <a:gd name="connsiteY12" fmla="*/ 4509000 h 6858000"/>
              <a:gd name="connsiteX13" fmla="*/ 2930438 w 12192000"/>
              <a:gd name="connsiteY13" fmla="*/ 4509000 h 6858000"/>
              <a:gd name="connsiteX14" fmla="*/ 6257159 w 12192000"/>
              <a:gd name="connsiteY14" fmla="*/ 4509000 h 6858000"/>
              <a:gd name="connsiteX15" fmla="*/ 6286220 w 12192000"/>
              <a:gd name="connsiteY15" fmla="*/ 4509000 h 6858000"/>
              <a:gd name="connsiteX16" fmla="*/ 6979034 w 12192000"/>
              <a:gd name="connsiteY16" fmla="*/ 3819388 h 6858000"/>
              <a:gd name="connsiteX17" fmla="*/ 6979034 w 12192000"/>
              <a:gd name="connsiteY17" fmla="*/ 3140165 h 6858000"/>
              <a:gd name="connsiteX18" fmla="*/ 7671849 w 12192000"/>
              <a:gd name="connsiteY18" fmla="*/ 2450553 h 6858000"/>
              <a:gd name="connsiteX19" fmla="*/ 8029891 w 12192000"/>
              <a:gd name="connsiteY19" fmla="*/ 2450553 h 6858000"/>
              <a:gd name="connsiteX20" fmla="*/ 8067185 w 12192000"/>
              <a:gd name="connsiteY20" fmla="*/ 2450553 h 6858000"/>
              <a:gd name="connsiteX21" fmla="*/ 8759999 w 12192000"/>
              <a:gd name="connsiteY21" fmla="*/ 1760941 h 6858000"/>
              <a:gd name="connsiteX22" fmla="*/ 8759999 w 12192000"/>
              <a:gd name="connsiteY22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764039 w 12192000"/>
              <a:gd name="connsiteY9" fmla="*/ 4509000 h 6858000"/>
              <a:gd name="connsiteX10" fmla="*/ 2776877 w 12192000"/>
              <a:gd name="connsiteY10" fmla="*/ 4509000 h 6858000"/>
              <a:gd name="connsiteX11" fmla="*/ 2916890 w 12192000"/>
              <a:gd name="connsiteY11" fmla="*/ 4509000 h 6858000"/>
              <a:gd name="connsiteX12" fmla="*/ 2930438 w 12192000"/>
              <a:gd name="connsiteY12" fmla="*/ 4509000 h 6858000"/>
              <a:gd name="connsiteX13" fmla="*/ 6257159 w 12192000"/>
              <a:gd name="connsiteY13" fmla="*/ 4509000 h 6858000"/>
              <a:gd name="connsiteX14" fmla="*/ 6286220 w 12192000"/>
              <a:gd name="connsiteY14" fmla="*/ 4509000 h 6858000"/>
              <a:gd name="connsiteX15" fmla="*/ 6979034 w 12192000"/>
              <a:gd name="connsiteY15" fmla="*/ 3819388 h 6858000"/>
              <a:gd name="connsiteX16" fmla="*/ 6979034 w 12192000"/>
              <a:gd name="connsiteY16" fmla="*/ 3140165 h 6858000"/>
              <a:gd name="connsiteX17" fmla="*/ 7671849 w 12192000"/>
              <a:gd name="connsiteY17" fmla="*/ 2450553 h 6858000"/>
              <a:gd name="connsiteX18" fmla="*/ 8029891 w 12192000"/>
              <a:gd name="connsiteY18" fmla="*/ 2450553 h 6858000"/>
              <a:gd name="connsiteX19" fmla="*/ 8067185 w 12192000"/>
              <a:gd name="connsiteY19" fmla="*/ 2450553 h 6858000"/>
              <a:gd name="connsiteX20" fmla="*/ 8759999 w 12192000"/>
              <a:gd name="connsiteY20" fmla="*/ 1760941 h 6858000"/>
              <a:gd name="connsiteX21" fmla="*/ 8759999 w 12192000"/>
              <a:gd name="connsiteY21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764039 w 12192000"/>
              <a:gd name="connsiteY9" fmla="*/ 4509000 h 6858000"/>
              <a:gd name="connsiteX10" fmla="*/ 2916890 w 12192000"/>
              <a:gd name="connsiteY10" fmla="*/ 4509000 h 6858000"/>
              <a:gd name="connsiteX11" fmla="*/ 2930438 w 12192000"/>
              <a:gd name="connsiteY11" fmla="*/ 4509000 h 6858000"/>
              <a:gd name="connsiteX12" fmla="*/ 6257159 w 12192000"/>
              <a:gd name="connsiteY12" fmla="*/ 4509000 h 6858000"/>
              <a:gd name="connsiteX13" fmla="*/ 6286220 w 12192000"/>
              <a:gd name="connsiteY13" fmla="*/ 4509000 h 6858000"/>
              <a:gd name="connsiteX14" fmla="*/ 6979034 w 12192000"/>
              <a:gd name="connsiteY14" fmla="*/ 3819388 h 6858000"/>
              <a:gd name="connsiteX15" fmla="*/ 6979034 w 12192000"/>
              <a:gd name="connsiteY15" fmla="*/ 3140165 h 6858000"/>
              <a:gd name="connsiteX16" fmla="*/ 7671849 w 12192000"/>
              <a:gd name="connsiteY16" fmla="*/ 2450553 h 6858000"/>
              <a:gd name="connsiteX17" fmla="*/ 8029891 w 12192000"/>
              <a:gd name="connsiteY17" fmla="*/ 2450553 h 6858000"/>
              <a:gd name="connsiteX18" fmla="*/ 8067185 w 12192000"/>
              <a:gd name="connsiteY18" fmla="*/ 2450553 h 6858000"/>
              <a:gd name="connsiteX19" fmla="*/ 8759999 w 12192000"/>
              <a:gd name="connsiteY19" fmla="*/ 1760941 h 6858000"/>
              <a:gd name="connsiteX20" fmla="*/ 8759999 w 12192000"/>
              <a:gd name="connsiteY20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916890 w 12192000"/>
              <a:gd name="connsiteY9" fmla="*/ 4509000 h 6858000"/>
              <a:gd name="connsiteX10" fmla="*/ 2930438 w 12192000"/>
              <a:gd name="connsiteY10" fmla="*/ 4509000 h 6858000"/>
              <a:gd name="connsiteX11" fmla="*/ 6257159 w 12192000"/>
              <a:gd name="connsiteY11" fmla="*/ 4509000 h 6858000"/>
              <a:gd name="connsiteX12" fmla="*/ 6286220 w 12192000"/>
              <a:gd name="connsiteY12" fmla="*/ 4509000 h 6858000"/>
              <a:gd name="connsiteX13" fmla="*/ 6979034 w 12192000"/>
              <a:gd name="connsiteY13" fmla="*/ 3819388 h 6858000"/>
              <a:gd name="connsiteX14" fmla="*/ 6979034 w 12192000"/>
              <a:gd name="connsiteY14" fmla="*/ 3140165 h 6858000"/>
              <a:gd name="connsiteX15" fmla="*/ 7671849 w 12192000"/>
              <a:gd name="connsiteY15" fmla="*/ 2450553 h 6858000"/>
              <a:gd name="connsiteX16" fmla="*/ 8029891 w 12192000"/>
              <a:gd name="connsiteY16" fmla="*/ 2450553 h 6858000"/>
              <a:gd name="connsiteX17" fmla="*/ 8067185 w 12192000"/>
              <a:gd name="connsiteY17" fmla="*/ 2450553 h 6858000"/>
              <a:gd name="connsiteX18" fmla="*/ 8759999 w 12192000"/>
              <a:gd name="connsiteY18" fmla="*/ 1760941 h 6858000"/>
              <a:gd name="connsiteX19" fmla="*/ 8759999 w 12192000"/>
              <a:gd name="connsiteY19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916890 w 12192000"/>
              <a:gd name="connsiteY9" fmla="*/ 4509000 h 6858000"/>
              <a:gd name="connsiteX10" fmla="*/ 6257159 w 12192000"/>
              <a:gd name="connsiteY10" fmla="*/ 4509000 h 6858000"/>
              <a:gd name="connsiteX11" fmla="*/ 6286220 w 12192000"/>
              <a:gd name="connsiteY11" fmla="*/ 4509000 h 6858000"/>
              <a:gd name="connsiteX12" fmla="*/ 6979034 w 12192000"/>
              <a:gd name="connsiteY12" fmla="*/ 3819388 h 6858000"/>
              <a:gd name="connsiteX13" fmla="*/ 6979034 w 12192000"/>
              <a:gd name="connsiteY13" fmla="*/ 3140165 h 6858000"/>
              <a:gd name="connsiteX14" fmla="*/ 7671849 w 12192000"/>
              <a:gd name="connsiteY14" fmla="*/ 2450553 h 6858000"/>
              <a:gd name="connsiteX15" fmla="*/ 8029891 w 12192000"/>
              <a:gd name="connsiteY15" fmla="*/ 2450553 h 6858000"/>
              <a:gd name="connsiteX16" fmla="*/ 8067185 w 12192000"/>
              <a:gd name="connsiteY16" fmla="*/ 2450553 h 6858000"/>
              <a:gd name="connsiteX17" fmla="*/ 8759999 w 12192000"/>
              <a:gd name="connsiteY17" fmla="*/ 1760941 h 6858000"/>
              <a:gd name="connsiteX18" fmla="*/ 8759999 w 12192000"/>
              <a:gd name="connsiteY18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916890 w 12192000"/>
              <a:gd name="connsiteY8" fmla="*/ 4509000 h 6858000"/>
              <a:gd name="connsiteX9" fmla="*/ 6257159 w 12192000"/>
              <a:gd name="connsiteY9" fmla="*/ 4509000 h 6858000"/>
              <a:gd name="connsiteX10" fmla="*/ 6286220 w 12192000"/>
              <a:gd name="connsiteY10" fmla="*/ 4509000 h 6858000"/>
              <a:gd name="connsiteX11" fmla="*/ 6979034 w 12192000"/>
              <a:gd name="connsiteY11" fmla="*/ 3819388 h 6858000"/>
              <a:gd name="connsiteX12" fmla="*/ 6979034 w 12192000"/>
              <a:gd name="connsiteY12" fmla="*/ 3140165 h 6858000"/>
              <a:gd name="connsiteX13" fmla="*/ 7671849 w 12192000"/>
              <a:gd name="connsiteY13" fmla="*/ 2450553 h 6858000"/>
              <a:gd name="connsiteX14" fmla="*/ 8029891 w 12192000"/>
              <a:gd name="connsiteY14" fmla="*/ 2450553 h 6858000"/>
              <a:gd name="connsiteX15" fmla="*/ 8067185 w 12192000"/>
              <a:gd name="connsiteY15" fmla="*/ 2450553 h 6858000"/>
              <a:gd name="connsiteX16" fmla="*/ 8759999 w 12192000"/>
              <a:gd name="connsiteY16" fmla="*/ 1760941 h 6858000"/>
              <a:gd name="connsiteX17" fmla="*/ 8759999 w 12192000"/>
              <a:gd name="connsiteY17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6257159 w 12192000"/>
              <a:gd name="connsiteY8" fmla="*/ 4509000 h 6858000"/>
              <a:gd name="connsiteX9" fmla="*/ 6286220 w 12192000"/>
              <a:gd name="connsiteY9" fmla="*/ 4509000 h 6858000"/>
              <a:gd name="connsiteX10" fmla="*/ 6979034 w 12192000"/>
              <a:gd name="connsiteY10" fmla="*/ 3819388 h 6858000"/>
              <a:gd name="connsiteX11" fmla="*/ 6979034 w 12192000"/>
              <a:gd name="connsiteY11" fmla="*/ 3140165 h 6858000"/>
              <a:gd name="connsiteX12" fmla="*/ 7671849 w 12192000"/>
              <a:gd name="connsiteY12" fmla="*/ 2450553 h 6858000"/>
              <a:gd name="connsiteX13" fmla="*/ 8029891 w 12192000"/>
              <a:gd name="connsiteY13" fmla="*/ 2450553 h 6858000"/>
              <a:gd name="connsiteX14" fmla="*/ 8067185 w 12192000"/>
              <a:gd name="connsiteY14" fmla="*/ 2450553 h 6858000"/>
              <a:gd name="connsiteX15" fmla="*/ 8759999 w 12192000"/>
              <a:gd name="connsiteY15" fmla="*/ 1760941 h 6858000"/>
              <a:gd name="connsiteX16" fmla="*/ 8759999 w 12192000"/>
              <a:gd name="connsiteY16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6257159 w 12192000"/>
              <a:gd name="connsiteY7" fmla="*/ 4509000 h 6858000"/>
              <a:gd name="connsiteX8" fmla="*/ 6286220 w 12192000"/>
              <a:gd name="connsiteY8" fmla="*/ 4509000 h 6858000"/>
              <a:gd name="connsiteX9" fmla="*/ 6979034 w 12192000"/>
              <a:gd name="connsiteY9" fmla="*/ 3819388 h 6858000"/>
              <a:gd name="connsiteX10" fmla="*/ 6979034 w 12192000"/>
              <a:gd name="connsiteY10" fmla="*/ 3140165 h 6858000"/>
              <a:gd name="connsiteX11" fmla="*/ 7671849 w 12192000"/>
              <a:gd name="connsiteY11" fmla="*/ 2450553 h 6858000"/>
              <a:gd name="connsiteX12" fmla="*/ 8029891 w 12192000"/>
              <a:gd name="connsiteY12" fmla="*/ 2450553 h 6858000"/>
              <a:gd name="connsiteX13" fmla="*/ 8067185 w 12192000"/>
              <a:gd name="connsiteY13" fmla="*/ 2450553 h 6858000"/>
              <a:gd name="connsiteX14" fmla="*/ 8759999 w 12192000"/>
              <a:gd name="connsiteY14" fmla="*/ 1760941 h 6858000"/>
              <a:gd name="connsiteX15" fmla="*/ 8759999 w 12192000"/>
              <a:gd name="connsiteY15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257159 w 12192000"/>
              <a:gd name="connsiteY6" fmla="*/ 4509000 h 6858000"/>
              <a:gd name="connsiteX7" fmla="*/ 6286220 w 12192000"/>
              <a:gd name="connsiteY7" fmla="*/ 4509000 h 6858000"/>
              <a:gd name="connsiteX8" fmla="*/ 6979034 w 12192000"/>
              <a:gd name="connsiteY8" fmla="*/ 3819388 h 6858000"/>
              <a:gd name="connsiteX9" fmla="*/ 6979034 w 12192000"/>
              <a:gd name="connsiteY9" fmla="*/ 3140165 h 6858000"/>
              <a:gd name="connsiteX10" fmla="*/ 7671849 w 12192000"/>
              <a:gd name="connsiteY10" fmla="*/ 2450553 h 6858000"/>
              <a:gd name="connsiteX11" fmla="*/ 8029891 w 12192000"/>
              <a:gd name="connsiteY11" fmla="*/ 2450553 h 6858000"/>
              <a:gd name="connsiteX12" fmla="*/ 8067185 w 12192000"/>
              <a:gd name="connsiteY12" fmla="*/ 2450553 h 6858000"/>
              <a:gd name="connsiteX13" fmla="*/ 8759999 w 12192000"/>
              <a:gd name="connsiteY13" fmla="*/ 1760941 h 6858000"/>
              <a:gd name="connsiteX14" fmla="*/ 8759999 w 12192000"/>
              <a:gd name="connsiteY14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257159 w 12192000"/>
              <a:gd name="connsiteY6" fmla="*/ 4509000 h 6858000"/>
              <a:gd name="connsiteX7" fmla="*/ 6979034 w 12192000"/>
              <a:gd name="connsiteY7" fmla="*/ 3819388 h 6858000"/>
              <a:gd name="connsiteX8" fmla="*/ 6979034 w 12192000"/>
              <a:gd name="connsiteY8" fmla="*/ 3140165 h 6858000"/>
              <a:gd name="connsiteX9" fmla="*/ 7671849 w 12192000"/>
              <a:gd name="connsiteY9" fmla="*/ 2450553 h 6858000"/>
              <a:gd name="connsiteX10" fmla="*/ 8029891 w 12192000"/>
              <a:gd name="connsiteY10" fmla="*/ 2450553 h 6858000"/>
              <a:gd name="connsiteX11" fmla="*/ 8067185 w 12192000"/>
              <a:gd name="connsiteY11" fmla="*/ 2450553 h 6858000"/>
              <a:gd name="connsiteX12" fmla="*/ 8759999 w 12192000"/>
              <a:gd name="connsiteY12" fmla="*/ 1760941 h 6858000"/>
              <a:gd name="connsiteX13" fmla="*/ 8759999 w 12192000"/>
              <a:gd name="connsiteY13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979034 w 12192000"/>
              <a:gd name="connsiteY6" fmla="*/ 3819388 h 6858000"/>
              <a:gd name="connsiteX7" fmla="*/ 6979034 w 12192000"/>
              <a:gd name="connsiteY7" fmla="*/ 3140165 h 6858000"/>
              <a:gd name="connsiteX8" fmla="*/ 7671849 w 12192000"/>
              <a:gd name="connsiteY8" fmla="*/ 2450553 h 6858000"/>
              <a:gd name="connsiteX9" fmla="*/ 8029891 w 12192000"/>
              <a:gd name="connsiteY9" fmla="*/ 2450553 h 6858000"/>
              <a:gd name="connsiteX10" fmla="*/ 8067185 w 12192000"/>
              <a:gd name="connsiteY10" fmla="*/ 2450553 h 6858000"/>
              <a:gd name="connsiteX11" fmla="*/ 8759999 w 12192000"/>
              <a:gd name="connsiteY11" fmla="*/ 1760941 h 6858000"/>
              <a:gd name="connsiteX12" fmla="*/ 8759999 w 12192000"/>
              <a:gd name="connsiteY12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979034 w 12192000"/>
              <a:gd name="connsiteY6" fmla="*/ 3140165 h 6858000"/>
              <a:gd name="connsiteX7" fmla="*/ 7671849 w 12192000"/>
              <a:gd name="connsiteY7" fmla="*/ 2450553 h 6858000"/>
              <a:gd name="connsiteX8" fmla="*/ 8029891 w 12192000"/>
              <a:gd name="connsiteY8" fmla="*/ 2450553 h 6858000"/>
              <a:gd name="connsiteX9" fmla="*/ 8067185 w 12192000"/>
              <a:gd name="connsiteY9" fmla="*/ 2450553 h 6858000"/>
              <a:gd name="connsiteX10" fmla="*/ 8759999 w 12192000"/>
              <a:gd name="connsiteY10" fmla="*/ 1760941 h 6858000"/>
              <a:gd name="connsiteX11" fmla="*/ 8759999 w 12192000"/>
              <a:gd name="connsiteY11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7671849 w 12192000"/>
              <a:gd name="connsiteY6" fmla="*/ 2450553 h 6858000"/>
              <a:gd name="connsiteX7" fmla="*/ 8029891 w 12192000"/>
              <a:gd name="connsiteY7" fmla="*/ 2450553 h 6858000"/>
              <a:gd name="connsiteX8" fmla="*/ 8067185 w 12192000"/>
              <a:gd name="connsiteY8" fmla="*/ 2450553 h 6858000"/>
              <a:gd name="connsiteX9" fmla="*/ 8759999 w 12192000"/>
              <a:gd name="connsiteY9" fmla="*/ 1760941 h 6858000"/>
              <a:gd name="connsiteX10" fmla="*/ 8759999 w 12192000"/>
              <a:gd name="connsiteY10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029891 w 12192000"/>
              <a:gd name="connsiteY6" fmla="*/ 2450553 h 6858000"/>
              <a:gd name="connsiteX7" fmla="*/ 8067185 w 12192000"/>
              <a:gd name="connsiteY7" fmla="*/ 2450553 h 6858000"/>
              <a:gd name="connsiteX8" fmla="*/ 8759999 w 12192000"/>
              <a:gd name="connsiteY8" fmla="*/ 1760941 h 6858000"/>
              <a:gd name="connsiteX9" fmla="*/ 8759999 w 12192000"/>
              <a:gd name="connsiteY9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029891 w 12192000"/>
              <a:gd name="connsiteY6" fmla="*/ 2450553 h 6858000"/>
              <a:gd name="connsiteX7" fmla="*/ 8759999 w 12192000"/>
              <a:gd name="connsiteY7" fmla="*/ 1760941 h 6858000"/>
              <a:gd name="connsiteX8" fmla="*/ 8759999 w 12192000"/>
              <a:gd name="connsiteY8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759999 w 12192000"/>
              <a:gd name="connsiteY6" fmla="*/ 1760941 h 6858000"/>
              <a:gd name="connsiteX7" fmla="*/ 8759999 w 12192000"/>
              <a:gd name="connsiteY7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759999 w 12192000"/>
              <a:gd name="connsiteY6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9145 w 12192000"/>
              <a:gd name="connsiteY5" fmla="*/ 10152 h 6858000"/>
              <a:gd name="connsiteX6" fmla="*/ 8759999 w 12192000"/>
              <a:gd name="connsiteY6" fmla="*/ 0 h 6858000"/>
              <a:gd name="connsiteX0" fmla="*/ 8759999 w 12192000"/>
              <a:gd name="connsiteY0" fmla="*/ 508523 h 7366523"/>
              <a:gd name="connsiteX1" fmla="*/ 12192000 w 12192000"/>
              <a:gd name="connsiteY1" fmla="*/ 508523 h 7366523"/>
              <a:gd name="connsiteX2" fmla="*/ 12192000 w 12192000"/>
              <a:gd name="connsiteY2" fmla="*/ 7366523 h 7366523"/>
              <a:gd name="connsiteX3" fmla="*/ 0 w 12192000"/>
              <a:gd name="connsiteY3" fmla="*/ 7366523 h 7366523"/>
              <a:gd name="connsiteX4" fmla="*/ 0 w 12192000"/>
              <a:gd name="connsiteY4" fmla="*/ 5017523 h 7366523"/>
              <a:gd name="connsiteX5" fmla="*/ 9145 w 12192000"/>
              <a:gd name="connsiteY5" fmla="*/ 518675 h 7366523"/>
              <a:gd name="connsiteX6" fmla="*/ 8759999 w 12192000"/>
              <a:gd name="connsiteY6" fmla="*/ 508523 h 7366523"/>
              <a:gd name="connsiteX0" fmla="*/ 8759999 w 12192000"/>
              <a:gd name="connsiteY0" fmla="*/ 568584 h 7426584"/>
              <a:gd name="connsiteX1" fmla="*/ 12192000 w 12192000"/>
              <a:gd name="connsiteY1" fmla="*/ 568584 h 7426584"/>
              <a:gd name="connsiteX2" fmla="*/ 12192000 w 12192000"/>
              <a:gd name="connsiteY2" fmla="*/ 7426584 h 7426584"/>
              <a:gd name="connsiteX3" fmla="*/ 0 w 12192000"/>
              <a:gd name="connsiteY3" fmla="*/ 7426584 h 7426584"/>
              <a:gd name="connsiteX4" fmla="*/ 0 w 12192000"/>
              <a:gd name="connsiteY4" fmla="*/ 5077584 h 7426584"/>
              <a:gd name="connsiteX5" fmla="*/ 9145 w 12192000"/>
              <a:gd name="connsiteY5" fmla="*/ 578736 h 7426584"/>
              <a:gd name="connsiteX6" fmla="*/ 8759999 w 12192000"/>
              <a:gd name="connsiteY6" fmla="*/ 568584 h 7426584"/>
              <a:gd name="connsiteX0" fmla="*/ 9145 w 12192000"/>
              <a:gd name="connsiteY0" fmla="*/ 10152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9145 w 12192000"/>
              <a:gd name="connsiteY5" fmla="*/ 10152 h 6858000"/>
              <a:gd name="connsiteX0" fmla="*/ 9145 w 12192000"/>
              <a:gd name="connsiteY0" fmla="*/ 10152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9145 w 12192000"/>
              <a:gd name="connsiteY4" fmla="*/ 101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9145" y="10152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ubicBezTo>
                  <a:pt x="3048" y="4575384"/>
                  <a:pt x="6097" y="2292768"/>
                  <a:pt x="9145" y="1015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576000" anchor="ctr">
            <a:noAutofit/>
          </a:bodyPr>
          <a:lstStyle>
            <a:lvl1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Bild einfügen</a:t>
            </a:r>
          </a:p>
        </p:txBody>
      </p:sp>
      <p:sp>
        <p:nvSpPr>
          <p:cNvPr id="6" name="Textplatzhalter 21">
            <a:extLst>
              <a:ext uri="{FF2B5EF4-FFF2-40B4-BE49-F238E27FC236}">
                <a16:creationId xmlns:a16="http://schemas.microsoft.com/office/drawing/2014/main" id="{B4192A66-BAB4-444B-9D5A-EF5D67DD2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1600" y="892800"/>
            <a:ext cx="9334800" cy="4806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EA789154-BF39-534F-8732-2C4F477C0A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91600" y="5832000"/>
            <a:ext cx="4123362" cy="466332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55CF3A-8745-495B-9FFE-CE92A5F4D6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624000" y="1988840"/>
            <a:ext cx="6336000" cy="1944000"/>
          </a:xfrm>
        </p:spPr>
        <p:txBody>
          <a:bodyPr lIns="0" anchor="b"/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31B0A1-8DE4-4F87-9296-AE72B35697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4000" y="4112840"/>
            <a:ext cx="5472000" cy="504000"/>
          </a:xfrm>
        </p:spPr>
        <p:txBody>
          <a:bodyPr lIns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| </a:t>
            </a:r>
            <a:r>
              <a:rPr lang="de-DE" dirty="0" err="1"/>
              <a:t>Author</a:t>
            </a:r>
            <a:r>
              <a:rPr lang="de-DE" dirty="0"/>
              <a:t> | Place | Date</a:t>
            </a:r>
          </a:p>
        </p:txBody>
      </p:sp>
    </p:spTree>
    <p:extLst>
      <p:ext uri="{BB962C8B-B14F-4D97-AF65-F5344CB8AC3E}">
        <p14:creationId xmlns:p14="http://schemas.microsoft.com/office/powerpoint/2010/main" val="358017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6C25-3376-0068-B424-A385B5F5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B2CF-2D66-3C6F-C40D-3B674DCB3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B7B9-4993-DE9D-763C-89AE4B22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B0B5-0340-4F34-8118-0A94D14D85B5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17773-65C1-BD66-FD35-E67934BCD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6B51D-ADDD-F6FE-A26D-8EABD1B6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3D63-F382-4442-86D0-C16E8A973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84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FC226-BB11-4405-967C-3564772CC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/>
        <p:txBody>
          <a:bodyPr>
            <a:noAutofit/>
          </a:bodyPr>
          <a:lstStyle>
            <a:lvl1pPr>
              <a:defRPr/>
            </a:lvl1pPr>
          </a:lstStyle>
          <a:p>
            <a:r>
              <a:rPr lang="de-DE" dirty="0"/>
              <a:t>Headline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40pt. (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24pt.)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760B6CD3-4D23-41AF-813B-493EA0339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2352000" y="6385644"/>
            <a:ext cx="7488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confidential, internal, open | author | presentation title</a:t>
            </a:r>
            <a:endParaRPr lang="de-DE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1E6EB998-053A-44F9-969A-AB1A92F9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11676000" y="6385644"/>
            <a:ext cx="252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A5E10D-79A5-49BA-9648-53481340C65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7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0093924"/>
              </p:ext>
            </p:extLst>
          </p:nvPr>
        </p:nvGraphicFramePr>
        <p:xfrm>
          <a:off x="1681" y="1681"/>
          <a:ext cx="1679" cy="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1"/>
                        <a:ext cx="1679" cy="1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2838" y="266693"/>
            <a:ext cx="11504128" cy="533386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dirty="0" err="1"/>
              <a:t>TeleGrotesk</a:t>
            </a:r>
            <a:r>
              <a:rPr lang="en-US" dirty="0"/>
              <a:t> Headline Ultra 28 (32)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409D50E-707A-46B1-8E9E-EECBA3DF3064}" type="datetime4">
              <a:rPr lang="de-DE" noProof="0" smtClean="0"/>
              <a:t>29. Juli 2026</a:t>
            </a:fld>
            <a:endParaRPr lang="en-US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19378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0F736-461B-4794-A066-AC52700C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11A02-12B0-4C3B-9B35-B0E83DA40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0D169-6EDE-4AEF-96B5-5C4C2835F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48CB9-6F4C-402F-9859-3CA31F5C425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65485-9C74-4DDC-980D-7750184FB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B222C-BC54-44FA-AA0E-3D1603E54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E4DC3-69AA-4CB8-ABD9-7B6674510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616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microsoft.com/office/2007/relationships/hdphoto" Target="../media/hdphoto1.wdp"/><Relationship Id="rId11" Type="http://schemas.openxmlformats.org/officeDocument/2006/relationships/image" Target="../media/image11.png"/><Relationship Id="rId12" Type="http://schemas.openxmlformats.org/officeDocument/2006/relationships/image" Target="../media/image12.gif"/><Relationship Id="rId13" Type="http://schemas.openxmlformats.org/officeDocument/2006/relationships/image" Target="../media/image13.jpe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jpe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microsoft.com/office/2007/relationships/hdphoto" Target="../media/hdphoto2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22.emf"/><Relationship Id="rId7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22.emf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007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96004-F4AA-D4FF-A3EE-EF6F9A6A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467284F-CE9C-35CD-6456-64E2709743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D091-DBEE-1B1E-B27A-A9111D537F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4AC3C8-1237-4ECB-67FB-9F056FCDB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485000"/>
            <a:ext cx="6336000" cy="1944000"/>
          </a:xfrm>
        </p:spPr>
        <p:txBody>
          <a:bodyPr/>
          <a:lstStyle/>
          <a:p>
            <a:pPr algn="ctr"/>
            <a:r>
              <a:rPr lang="en-US" sz="4800" dirty="0"/>
              <a:t>D365 CAPABILITIES</a:t>
            </a:r>
          </a:p>
        </p:txBody>
      </p:sp>
    </p:spTree>
    <p:extLst>
      <p:ext uri="{BB962C8B-B14F-4D97-AF65-F5344CB8AC3E}">
        <p14:creationId xmlns:p14="http://schemas.microsoft.com/office/powerpoint/2010/main" val="347092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lowchart: Data 155">
            <a:extLst>
              <a:ext uri="{FF2B5EF4-FFF2-40B4-BE49-F238E27FC236}">
                <a16:creationId xmlns:a16="http://schemas.microsoft.com/office/drawing/2014/main" id="{320317DB-8144-419B-97BF-5F858FD40A7F}"/>
              </a:ext>
            </a:extLst>
          </p:cNvPr>
          <p:cNvSpPr/>
          <p:nvPr/>
        </p:nvSpPr>
        <p:spPr bwMode="auto">
          <a:xfrm>
            <a:off x="2863651" y="2846962"/>
            <a:ext cx="1924364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Transformation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sp>
        <p:nvSpPr>
          <p:cNvPr id="157" name="Flowchart: Data 156">
            <a:extLst>
              <a:ext uri="{FF2B5EF4-FFF2-40B4-BE49-F238E27FC236}">
                <a16:creationId xmlns:a16="http://schemas.microsoft.com/office/drawing/2014/main" id="{203FCCBD-9372-4DA7-AA06-1C913368609B}"/>
              </a:ext>
            </a:extLst>
          </p:cNvPr>
          <p:cNvSpPr/>
          <p:nvPr/>
        </p:nvSpPr>
        <p:spPr bwMode="auto">
          <a:xfrm flipH="1">
            <a:off x="193519" y="2846962"/>
            <a:ext cx="1924601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Consulting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sp>
        <p:nvSpPr>
          <p:cNvPr id="158" name="Flowchart: Data 157">
            <a:extLst>
              <a:ext uri="{FF2B5EF4-FFF2-40B4-BE49-F238E27FC236}">
                <a16:creationId xmlns:a16="http://schemas.microsoft.com/office/drawing/2014/main" id="{7F1BF2BA-3E22-418B-AC5E-532BDDD85F0A}"/>
              </a:ext>
            </a:extLst>
          </p:cNvPr>
          <p:cNvSpPr/>
          <p:nvPr/>
        </p:nvSpPr>
        <p:spPr bwMode="auto">
          <a:xfrm>
            <a:off x="193507" y="3869525"/>
            <a:ext cx="1924364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Automation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sp>
        <p:nvSpPr>
          <p:cNvPr id="161" name="Flowchart: Data 160">
            <a:extLst>
              <a:ext uri="{FF2B5EF4-FFF2-40B4-BE49-F238E27FC236}">
                <a16:creationId xmlns:a16="http://schemas.microsoft.com/office/drawing/2014/main" id="{B76F1D66-85D1-4981-A955-1188A52A98B5}"/>
              </a:ext>
            </a:extLst>
          </p:cNvPr>
          <p:cNvSpPr/>
          <p:nvPr/>
        </p:nvSpPr>
        <p:spPr bwMode="auto">
          <a:xfrm flipH="1">
            <a:off x="2892006" y="3869525"/>
            <a:ext cx="1924364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Operations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2311519-A1A0-4FA1-A97E-880CEAA879BE}"/>
              </a:ext>
            </a:extLst>
          </p:cNvPr>
          <p:cNvGrpSpPr/>
          <p:nvPr/>
        </p:nvGrpSpPr>
        <p:grpSpPr>
          <a:xfrm>
            <a:off x="2063337" y="3139844"/>
            <a:ext cx="864000" cy="864000"/>
            <a:chOff x="1297172" y="1265273"/>
            <a:chExt cx="688102" cy="677469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0B2BF3CA-805E-4B26-99BB-F87D6CCC7E9C}"/>
                </a:ext>
              </a:extLst>
            </p:cNvPr>
            <p:cNvSpPr/>
            <p:nvPr/>
          </p:nvSpPr>
          <p:spPr bwMode="auto">
            <a:xfrm>
              <a:off x="1297172" y="1265273"/>
              <a:ext cx="688102" cy="677469"/>
            </a:xfrm>
            <a:prstGeom prst="ellipse">
              <a:avLst/>
            </a:prstGeom>
            <a:solidFill>
              <a:srgbClr val="124079">
                <a:lumMod val="75000"/>
              </a:srgbClr>
            </a:solidFill>
            <a:ln w="6350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124079">
                  <a:satMod val="175000"/>
                  <a:alpha val="40000"/>
                </a:srgbClr>
              </a:glow>
            </a:effectLst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endParaRPr lang="en-IN" sz="1867" kern="0" dirty="0">
                <a:solidFill>
                  <a:srgbClr val="7C7C7C"/>
                </a:solidFill>
                <a:ea typeface="STKaiti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5EE2F0B4-FE21-4A0D-902F-86300FD625F0}"/>
                </a:ext>
              </a:extLst>
            </p:cNvPr>
            <p:cNvSpPr/>
            <p:nvPr/>
          </p:nvSpPr>
          <p:spPr bwMode="auto">
            <a:xfrm>
              <a:off x="1383184" y="1348128"/>
              <a:ext cx="516077" cy="508102"/>
            </a:xfrm>
            <a:prstGeom prst="ellipse">
              <a:avLst/>
            </a:prstGeom>
            <a:solidFill>
              <a:srgbClr val="00B0F0"/>
            </a:solidFill>
            <a:ln w="6350" cap="flat" cmpd="sng" algn="ctr">
              <a:solidFill>
                <a:srgbClr val="124079">
                  <a:lumMod val="60000"/>
                  <a:lumOff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endParaRPr lang="en-IN" sz="1867" kern="0" dirty="0">
                <a:solidFill>
                  <a:srgbClr val="7C7C7C"/>
                </a:solidFill>
                <a:ea typeface="STKaiti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77B8C077-D294-4648-BD7E-01C6C3DB5201}"/>
                </a:ext>
              </a:extLst>
            </p:cNvPr>
            <p:cNvGrpSpPr/>
            <p:nvPr/>
          </p:nvGrpSpPr>
          <p:grpSpPr>
            <a:xfrm rot="16200000">
              <a:off x="1467696" y="1414533"/>
              <a:ext cx="389585" cy="385026"/>
              <a:chOff x="8328755" y="3147659"/>
              <a:chExt cx="496576" cy="497533"/>
            </a:xfrm>
            <a:effectLst/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1725C330-6033-4F33-9F54-938807AE67E1}"/>
                  </a:ext>
                </a:extLst>
              </p:cNvPr>
              <p:cNvSpPr/>
              <p:nvPr/>
            </p:nvSpPr>
            <p:spPr>
              <a:xfrm>
                <a:off x="8341726" y="3147659"/>
                <a:ext cx="468999" cy="457395"/>
              </a:xfrm>
              <a:prstGeom prst="ellipse">
                <a:avLst/>
              </a:prstGeom>
              <a:gradFill flip="none" rotWithShape="1">
                <a:gsLst>
                  <a:gs pos="0">
                    <a:srgbClr val="FCC320">
                      <a:lumMod val="5000"/>
                      <a:lumOff val="95000"/>
                    </a:srgbClr>
                  </a:gs>
                  <a:gs pos="74000">
                    <a:srgbClr val="124079">
                      <a:lumMod val="20000"/>
                      <a:lumOff val="80000"/>
                    </a:srgbClr>
                  </a:gs>
                  <a:gs pos="83000">
                    <a:srgbClr val="124079">
                      <a:lumMod val="20000"/>
                      <a:lumOff val="80000"/>
                    </a:srgbClr>
                  </a:gs>
                  <a:gs pos="100000">
                    <a:srgbClr val="124079">
                      <a:lumMod val="20000"/>
                      <a:lumOff val="80000"/>
                    </a:srgbClr>
                  </a:gs>
                </a:gsLst>
                <a:lin ang="54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endParaRPr lang="en-IN" sz="2400" kern="0" dirty="0">
                  <a:solidFill>
                    <a:srgbClr val="FEFDFD"/>
                  </a:solidFill>
                  <a:latin typeface="Arial"/>
                  <a:ea typeface="STKaiti"/>
                </a:endParaRPr>
              </a:p>
            </p:txBody>
          </p:sp>
          <p:pic>
            <p:nvPicPr>
              <p:cNvPr id="170" name="Picture 2" descr="Image result for dynamics icon">
                <a:extLst>
                  <a:ext uri="{FF2B5EF4-FFF2-40B4-BE49-F238E27FC236}">
                    <a16:creationId xmlns:a16="http://schemas.microsoft.com/office/drawing/2014/main" id="{DCDB9707-583F-4DA9-95D1-BF08BD01DC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8340888" y="3160749"/>
                <a:ext cx="472310" cy="496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0127C69D-B498-46C5-AC0E-BE384B7E3FE6}"/>
              </a:ext>
            </a:extLst>
          </p:cNvPr>
          <p:cNvSpPr txBox="1"/>
          <p:nvPr/>
        </p:nvSpPr>
        <p:spPr>
          <a:xfrm>
            <a:off x="1816654" y="2460235"/>
            <a:ext cx="1354961" cy="931215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 algn="ctr">
              <a:defRPr/>
            </a:pPr>
            <a:r>
              <a:rPr lang="en-US" sz="1867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DYNAMICS 365</a:t>
            </a:r>
          </a:p>
          <a:p>
            <a:pPr algn="ctr">
              <a:defRPr/>
            </a:pPr>
            <a:endParaRPr lang="en-US" sz="1867" dirty="0">
              <a:solidFill>
                <a:srgbClr val="1446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2" name="Hexagon 171">
            <a:extLst>
              <a:ext uri="{FF2B5EF4-FFF2-40B4-BE49-F238E27FC236}">
                <a16:creationId xmlns:a16="http://schemas.microsoft.com/office/drawing/2014/main" id="{1F32E637-DD31-4478-A60D-325867B927BA}"/>
              </a:ext>
            </a:extLst>
          </p:cNvPr>
          <p:cNvSpPr/>
          <p:nvPr/>
        </p:nvSpPr>
        <p:spPr>
          <a:xfrm rot="16200000">
            <a:off x="5393505" y="3017479"/>
            <a:ext cx="960000" cy="960000"/>
          </a:xfrm>
          <a:prstGeom prst="hexagon">
            <a:avLst/>
          </a:prstGeom>
          <a:solidFill>
            <a:srgbClr val="2C2E8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3" name="Hexagon 172">
            <a:extLst>
              <a:ext uri="{FF2B5EF4-FFF2-40B4-BE49-F238E27FC236}">
                <a16:creationId xmlns:a16="http://schemas.microsoft.com/office/drawing/2014/main" id="{89C85591-71AD-46C9-AF1F-F0D288BA2498}"/>
              </a:ext>
            </a:extLst>
          </p:cNvPr>
          <p:cNvSpPr/>
          <p:nvPr/>
        </p:nvSpPr>
        <p:spPr>
          <a:xfrm rot="16200000">
            <a:off x="6682972" y="3017479"/>
            <a:ext cx="960000" cy="960000"/>
          </a:xfrm>
          <a:prstGeom prst="hexagon">
            <a:avLst/>
          </a:prstGeom>
          <a:solidFill>
            <a:srgbClr val="F7951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4" name="Hexagon 173">
            <a:extLst>
              <a:ext uri="{FF2B5EF4-FFF2-40B4-BE49-F238E27FC236}">
                <a16:creationId xmlns:a16="http://schemas.microsoft.com/office/drawing/2014/main" id="{42286C3B-8AFF-4C19-8D75-654C2D316F97}"/>
              </a:ext>
            </a:extLst>
          </p:cNvPr>
          <p:cNvSpPr/>
          <p:nvPr/>
        </p:nvSpPr>
        <p:spPr>
          <a:xfrm rot="16200000">
            <a:off x="9261905" y="3017479"/>
            <a:ext cx="960000" cy="960000"/>
          </a:xfrm>
          <a:prstGeom prst="hexagon">
            <a:avLst/>
          </a:prstGeom>
          <a:solidFill>
            <a:srgbClr val="F7951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5" name="Hexagon 174">
            <a:extLst>
              <a:ext uri="{FF2B5EF4-FFF2-40B4-BE49-F238E27FC236}">
                <a16:creationId xmlns:a16="http://schemas.microsoft.com/office/drawing/2014/main" id="{1AC14F74-918A-4D2F-B509-DCBC47253AD2}"/>
              </a:ext>
            </a:extLst>
          </p:cNvPr>
          <p:cNvSpPr/>
          <p:nvPr/>
        </p:nvSpPr>
        <p:spPr>
          <a:xfrm rot="16200000">
            <a:off x="10551373" y="3017479"/>
            <a:ext cx="960000" cy="960000"/>
          </a:xfrm>
          <a:prstGeom prst="hexagon">
            <a:avLst/>
          </a:prstGeom>
          <a:solidFill>
            <a:srgbClr val="2C2E8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6" name="Hexagon 175">
            <a:extLst>
              <a:ext uri="{FF2B5EF4-FFF2-40B4-BE49-F238E27FC236}">
                <a16:creationId xmlns:a16="http://schemas.microsoft.com/office/drawing/2014/main" id="{9C432714-6CD7-4FED-8E49-E7E510F51513}"/>
              </a:ext>
            </a:extLst>
          </p:cNvPr>
          <p:cNvSpPr/>
          <p:nvPr/>
        </p:nvSpPr>
        <p:spPr>
          <a:xfrm rot="16200000">
            <a:off x="7972438" y="3017479"/>
            <a:ext cx="960000" cy="960000"/>
          </a:xfrm>
          <a:prstGeom prst="hexagon">
            <a:avLst/>
          </a:prstGeom>
          <a:solidFill>
            <a:srgbClr val="2C2E8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pic>
        <p:nvPicPr>
          <p:cNvPr id="177" name="Graphic 176" descr="Venn diagram">
            <a:extLst>
              <a:ext uri="{FF2B5EF4-FFF2-40B4-BE49-F238E27FC236}">
                <a16:creationId xmlns:a16="http://schemas.microsoft.com/office/drawing/2014/main" id="{5F15F14B-FE2E-4930-8554-292DF8F58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5616" y="3186344"/>
            <a:ext cx="625643" cy="625643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46BCBCE0-739B-4FCA-969C-4B2442CAE211}"/>
              </a:ext>
            </a:extLst>
          </p:cNvPr>
          <p:cNvSpPr txBox="1"/>
          <p:nvPr/>
        </p:nvSpPr>
        <p:spPr>
          <a:xfrm>
            <a:off x="5144535" y="2509606"/>
            <a:ext cx="1574131" cy="469357"/>
          </a:xfrm>
          <a:prstGeom prst="rect">
            <a:avLst/>
          </a:prstGeom>
          <a:noFill/>
        </p:spPr>
        <p:txBody>
          <a:bodyPr wrap="non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 algn="l"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Massive Head-start</a:t>
            </a:r>
          </a:p>
          <a:p>
            <a:pPr algn="l"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Noiseless Transitions</a:t>
            </a:r>
            <a:endParaRPr lang="en-GB" sz="1200" dirty="0">
              <a:solidFill>
                <a:srgbClr val="1446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87A12E5-530D-44D1-B735-6260EA61CCC9}"/>
              </a:ext>
            </a:extLst>
          </p:cNvPr>
          <p:cNvSpPr txBox="1"/>
          <p:nvPr/>
        </p:nvSpPr>
        <p:spPr>
          <a:xfrm>
            <a:off x="6326445" y="4021626"/>
            <a:ext cx="1981141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i="1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Faster Executions</a:t>
            </a:r>
          </a:p>
          <a:p>
            <a:pPr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Sure Step Methodology</a:t>
            </a:r>
          </a:p>
        </p:txBody>
      </p:sp>
      <p:pic>
        <p:nvPicPr>
          <p:cNvPr id="180" name="Graphic 179" descr="User network">
            <a:extLst>
              <a:ext uri="{FF2B5EF4-FFF2-40B4-BE49-F238E27FC236}">
                <a16:creationId xmlns:a16="http://schemas.microsoft.com/office/drawing/2014/main" id="{3153C3D0-B697-4F70-AC49-5B15B55E91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5702" y="3186344"/>
            <a:ext cx="625643" cy="625643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2F794353-D4B3-4C94-9040-706460EDC295}"/>
              </a:ext>
            </a:extLst>
          </p:cNvPr>
          <p:cNvSpPr txBox="1"/>
          <p:nvPr/>
        </p:nvSpPr>
        <p:spPr>
          <a:xfrm>
            <a:off x="7493284" y="2509606"/>
            <a:ext cx="2119827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 Governance</a:t>
            </a:r>
          </a:p>
          <a:p>
            <a:pPr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Multi-tier structure</a:t>
            </a:r>
          </a:p>
        </p:txBody>
      </p:sp>
      <p:pic>
        <p:nvPicPr>
          <p:cNvPr id="182" name="Graphic 181" descr="Group brainstorm">
            <a:extLst>
              <a:ext uri="{FF2B5EF4-FFF2-40B4-BE49-F238E27FC236}">
                <a16:creationId xmlns:a16="http://schemas.microsoft.com/office/drawing/2014/main" id="{A45DEACB-99FF-42FD-BA64-E7889BE3C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4234" y="3187166"/>
            <a:ext cx="624000" cy="624000"/>
          </a:xfrm>
          <a:prstGeom prst="rect">
            <a:avLst/>
          </a:prstGeom>
        </p:spPr>
      </p:pic>
      <p:pic>
        <p:nvPicPr>
          <p:cNvPr id="183" name="Graphic 182" descr="Handshake">
            <a:extLst>
              <a:ext uri="{FF2B5EF4-FFF2-40B4-BE49-F238E27FC236}">
                <a16:creationId xmlns:a16="http://schemas.microsoft.com/office/drawing/2014/main" id="{24EA9C8F-970D-4502-A2A0-9518BF3C2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9970" y="3187166"/>
            <a:ext cx="624000" cy="62400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FEB973E2-0448-4C50-BEEB-35C3365469EB}"/>
              </a:ext>
            </a:extLst>
          </p:cNvPr>
          <p:cNvSpPr txBox="1"/>
          <p:nvPr/>
        </p:nvSpPr>
        <p:spPr>
          <a:xfrm>
            <a:off x="8778776" y="4021626"/>
            <a:ext cx="1021849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NextGen</a:t>
            </a:r>
          </a:p>
          <a:p>
            <a:pPr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Framework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B78DC45-59B8-478F-AD3A-39C9440C9291}"/>
              </a:ext>
            </a:extLst>
          </p:cNvPr>
          <p:cNvSpPr txBox="1"/>
          <p:nvPr/>
        </p:nvSpPr>
        <p:spPr>
          <a:xfrm>
            <a:off x="10082788" y="2509606"/>
            <a:ext cx="2119827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Digitally Transform</a:t>
            </a:r>
          </a:p>
          <a:p>
            <a:pPr>
              <a:defRPr/>
            </a:pPr>
            <a:r>
              <a:rPr lang="en-US" sz="1200" i="1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Optimize &amp; Evolve</a:t>
            </a:r>
          </a:p>
        </p:txBody>
      </p:sp>
      <p:pic>
        <p:nvPicPr>
          <p:cNvPr id="186" name="Graphic 185" descr="Lightbulb">
            <a:extLst>
              <a:ext uri="{FF2B5EF4-FFF2-40B4-BE49-F238E27FC236}">
                <a16:creationId xmlns:a16="http://schemas.microsoft.com/office/drawing/2014/main" id="{55931BDC-7B5D-44BD-921C-2BEA0A2254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9373" y="3187166"/>
            <a:ext cx="624000" cy="624000"/>
          </a:xfrm>
          <a:prstGeom prst="rect">
            <a:avLst/>
          </a:prstGeom>
        </p:spPr>
      </p:pic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F4538F2-3CAB-4F4B-93B4-830413CFE135}"/>
              </a:ext>
            </a:extLst>
          </p:cNvPr>
          <p:cNvCxnSpPr/>
          <p:nvPr/>
        </p:nvCxnSpPr>
        <p:spPr bwMode="auto">
          <a:xfrm>
            <a:off x="6700144" y="6730056"/>
            <a:ext cx="1097280" cy="0"/>
          </a:xfrm>
          <a:prstGeom prst="line">
            <a:avLst/>
          </a:prstGeom>
          <a:solidFill>
            <a:srgbClr val="BBBDC0"/>
          </a:solidFill>
          <a:ln w="19050" cap="flat" cmpd="sng" algn="ctr">
            <a:solidFill>
              <a:srgbClr val="FEFDF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" name="Freeform 86">
            <a:extLst>
              <a:ext uri="{FF2B5EF4-FFF2-40B4-BE49-F238E27FC236}">
                <a16:creationId xmlns:a16="http://schemas.microsoft.com/office/drawing/2014/main" id="{5ACDE92A-EF99-401F-90B9-BE3416200BFB}"/>
              </a:ext>
            </a:extLst>
          </p:cNvPr>
          <p:cNvSpPr>
            <a:spLocks noEditPoints="1"/>
          </p:cNvSpPr>
          <p:nvPr/>
        </p:nvSpPr>
        <p:spPr bwMode="auto">
          <a:xfrm>
            <a:off x="8555387" y="4722910"/>
            <a:ext cx="303993" cy="332932"/>
          </a:xfrm>
          <a:custGeom>
            <a:avLst/>
            <a:gdLst>
              <a:gd name="T0" fmla="*/ 2100 w 8427"/>
              <a:gd name="T1" fmla="*/ 10298 h 11230"/>
              <a:gd name="T2" fmla="*/ 1311 w 8427"/>
              <a:gd name="T3" fmla="*/ 10098 h 11230"/>
              <a:gd name="T4" fmla="*/ 491 w 8427"/>
              <a:gd name="T5" fmla="*/ 9732 h 11230"/>
              <a:gd name="T6" fmla="*/ 1310 w 8427"/>
              <a:gd name="T7" fmla="*/ 7368 h 11230"/>
              <a:gd name="T8" fmla="*/ 1662 w 8427"/>
              <a:gd name="T9" fmla="*/ 7819 h 11230"/>
              <a:gd name="T10" fmla="*/ 3170 w 8427"/>
              <a:gd name="T11" fmla="*/ 8268 h 11230"/>
              <a:gd name="T12" fmla="*/ 3584 w 8427"/>
              <a:gd name="T13" fmla="*/ 9078 h 11230"/>
              <a:gd name="T14" fmla="*/ 3000 w 8427"/>
              <a:gd name="T15" fmla="*/ 10765 h 11230"/>
              <a:gd name="T16" fmla="*/ 5574 w 8427"/>
              <a:gd name="T17" fmla="*/ 11188 h 11230"/>
              <a:gd name="T18" fmla="*/ 5193 w 8427"/>
              <a:gd name="T19" fmla="*/ 10092 h 11230"/>
              <a:gd name="T20" fmla="*/ 4705 w 8427"/>
              <a:gd name="T21" fmla="*/ 8564 h 11230"/>
              <a:gd name="T22" fmla="*/ 5240 w 8427"/>
              <a:gd name="T23" fmla="*/ 8274 h 11230"/>
              <a:gd name="T24" fmla="*/ 6765 w 8427"/>
              <a:gd name="T25" fmla="*/ 7819 h 11230"/>
              <a:gd name="T26" fmla="*/ 7116 w 8427"/>
              <a:gd name="T27" fmla="*/ 7368 h 11230"/>
              <a:gd name="T28" fmla="*/ 8065 w 8427"/>
              <a:gd name="T29" fmla="*/ 10111 h 11230"/>
              <a:gd name="T30" fmla="*/ 7020 w 8427"/>
              <a:gd name="T31" fmla="*/ 10074 h 11230"/>
              <a:gd name="T32" fmla="*/ 6064 w 8427"/>
              <a:gd name="T33" fmla="*/ 10635 h 11230"/>
              <a:gd name="T34" fmla="*/ 4129 w 8427"/>
              <a:gd name="T35" fmla="*/ 8404 h 11230"/>
              <a:gd name="T36" fmla="*/ 2620 w 8427"/>
              <a:gd name="T37" fmla="*/ 7900 h 11230"/>
              <a:gd name="T38" fmla="*/ 1489 w 8427"/>
              <a:gd name="T39" fmla="*/ 6961 h 11230"/>
              <a:gd name="T40" fmla="*/ 527 w 8427"/>
              <a:gd name="T41" fmla="*/ 6239 h 11230"/>
              <a:gd name="T42" fmla="*/ 0 w 8427"/>
              <a:gd name="T43" fmla="*/ 4209 h 11230"/>
              <a:gd name="T44" fmla="*/ 560 w 8427"/>
              <a:gd name="T45" fmla="*/ 2133 h 11230"/>
              <a:gd name="T46" fmla="*/ 2120 w 8427"/>
              <a:gd name="T47" fmla="*/ 567 h 11230"/>
              <a:gd name="T48" fmla="*/ 3613 w 8427"/>
              <a:gd name="T49" fmla="*/ 296 h 11230"/>
              <a:gd name="T50" fmla="*/ 4813 w 8427"/>
              <a:gd name="T51" fmla="*/ 296 h 11230"/>
              <a:gd name="T52" fmla="*/ 6596 w 8427"/>
              <a:gd name="T53" fmla="*/ 952 h 11230"/>
              <a:gd name="T54" fmla="*/ 7593 w 8427"/>
              <a:gd name="T55" fmla="*/ 1897 h 11230"/>
              <a:gd name="T56" fmla="*/ 8190 w 8427"/>
              <a:gd name="T57" fmla="*/ 3712 h 11230"/>
              <a:gd name="T58" fmla="*/ 8238 w 8427"/>
              <a:gd name="T59" fmla="*/ 4628 h 11230"/>
              <a:gd name="T60" fmla="*/ 7852 w 8427"/>
              <a:gd name="T61" fmla="*/ 6320 h 11230"/>
              <a:gd name="T62" fmla="*/ 6301 w 8427"/>
              <a:gd name="T63" fmla="*/ 7863 h 11230"/>
              <a:gd name="T64" fmla="*/ 4833 w 8427"/>
              <a:gd name="T65" fmla="*/ 8118 h 11230"/>
              <a:gd name="T66" fmla="*/ 4600 w 8427"/>
              <a:gd name="T67" fmla="*/ 7337 h 11230"/>
              <a:gd name="T68" fmla="*/ 7164 w 8427"/>
              <a:gd name="T69" fmla="*/ 3112 h 11230"/>
              <a:gd name="T70" fmla="*/ 1593 w 8427"/>
              <a:gd name="T71" fmla="*/ 2472 h 11230"/>
              <a:gd name="T72" fmla="*/ 2801 w 8427"/>
              <a:gd name="T73" fmla="*/ 7023 h 11230"/>
              <a:gd name="T74" fmla="*/ 3338 w 8427"/>
              <a:gd name="T75" fmla="*/ 6565 h 11230"/>
              <a:gd name="T76" fmla="*/ 3087 w 8427"/>
              <a:gd name="T77" fmla="*/ 1974 h 11230"/>
              <a:gd name="T78" fmla="*/ 4687 w 8427"/>
              <a:gd name="T79" fmla="*/ 1749 h 11230"/>
              <a:gd name="T80" fmla="*/ 6708 w 8427"/>
              <a:gd name="T81" fmla="*/ 4478 h 11230"/>
              <a:gd name="T82" fmla="*/ 4573 w 8427"/>
              <a:gd name="T83" fmla="*/ 6697 h 11230"/>
              <a:gd name="T84" fmla="*/ 4213 w 8427"/>
              <a:gd name="T85" fmla="*/ 5163 h 11230"/>
              <a:gd name="T86" fmla="*/ 5173 w 8427"/>
              <a:gd name="T87" fmla="*/ 5105 h 11230"/>
              <a:gd name="T88" fmla="*/ 5417 w 8427"/>
              <a:gd name="T89" fmla="*/ 4201 h 11230"/>
              <a:gd name="T90" fmla="*/ 4757 w 8427"/>
              <a:gd name="T91" fmla="*/ 3525 h 11230"/>
              <a:gd name="T92" fmla="*/ 4138 w 8427"/>
              <a:gd name="T93" fmla="*/ 2658 h 11230"/>
              <a:gd name="T94" fmla="*/ 3393 w 8427"/>
              <a:gd name="T95" fmla="*/ 3564 h 11230"/>
              <a:gd name="T96" fmla="*/ 3016 w 8427"/>
              <a:gd name="T97" fmla="*/ 4210 h 11230"/>
              <a:gd name="T98" fmla="*/ 3205 w 8427"/>
              <a:gd name="T99" fmla="*/ 5476 h 1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427" h="11230">
                <a:moveTo>
                  <a:pt x="2784" y="11176"/>
                </a:moveTo>
                <a:cubicBezTo>
                  <a:pt x="2759" y="11144"/>
                  <a:pt x="2610" y="10953"/>
                  <a:pt x="2453" y="10752"/>
                </a:cubicBezTo>
                <a:cubicBezTo>
                  <a:pt x="2297" y="10550"/>
                  <a:pt x="2138" y="10346"/>
                  <a:pt x="2100" y="10298"/>
                </a:cubicBezTo>
                <a:cubicBezTo>
                  <a:pt x="2062" y="10251"/>
                  <a:pt x="1987" y="10156"/>
                  <a:pt x="1934" y="10088"/>
                </a:cubicBezTo>
                <a:cubicBezTo>
                  <a:pt x="1876" y="10015"/>
                  <a:pt x="1829" y="9966"/>
                  <a:pt x="1819" y="9970"/>
                </a:cubicBezTo>
                <a:cubicBezTo>
                  <a:pt x="1809" y="9974"/>
                  <a:pt x="1581" y="10031"/>
                  <a:pt x="1311" y="10098"/>
                </a:cubicBezTo>
                <a:cubicBezTo>
                  <a:pt x="1041" y="10164"/>
                  <a:pt x="701" y="10249"/>
                  <a:pt x="555" y="10286"/>
                </a:cubicBezTo>
                <a:cubicBezTo>
                  <a:pt x="410" y="10323"/>
                  <a:pt x="288" y="10351"/>
                  <a:pt x="286" y="10348"/>
                </a:cubicBezTo>
                <a:cubicBezTo>
                  <a:pt x="281" y="10343"/>
                  <a:pt x="340" y="10165"/>
                  <a:pt x="491" y="9732"/>
                </a:cubicBezTo>
                <a:cubicBezTo>
                  <a:pt x="534" y="9607"/>
                  <a:pt x="691" y="9154"/>
                  <a:pt x="840" y="8725"/>
                </a:cubicBezTo>
                <a:cubicBezTo>
                  <a:pt x="988" y="8296"/>
                  <a:pt x="1148" y="7834"/>
                  <a:pt x="1196" y="7698"/>
                </a:cubicBezTo>
                <a:cubicBezTo>
                  <a:pt x="1243" y="7563"/>
                  <a:pt x="1295" y="7414"/>
                  <a:pt x="1310" y="7368"/>
                </a:cubicBezTo>
                <a:cubicBezTo>
                  <a:pt x="1326" y="7323"/>
                  <a:pt x="1342" y="7285"/>
                  <a:pt x="1346" y="7285"/>
                </a:cubicBezTo>
                <a:cubicBezTo>
                  <a:pt x="1350" y="7285"/>
                  <a:pt x="1371" y="7317"/>
                  <a:pt x="1392" y="7355"/>
                </a:cubicBezTo>
                <a:cubicBezTo>
                  <a:pt x="1439" y="7440"/>
                  <a:pt x="1549" y="7628"/>
                  <a:pt x="1662" y="7819"/>
                </a:cubicBezTo>
                <a:cubicBezTo>
                  <a:pt x="1786" y="8029"/>
                  <a:pt x="1892" y="8121"/>
                  <a:pt x="2093" y="8196"/>
                </a:cubicBezTo>
                <a:cubicBezTo>
                  <a:pt x="2160" y="8221"/>
                  <a:pt x="2209" y="8224"/>
                  <a:pt x="2627" y="8232"/>
                </a:cubicBezTo>
                <a:cubicBezTo>
                  <a:pt x="3040" y="8240"/>
                  <a:pt x="3095" y="8244"/>
                  <a:pt x="3170" y="8268"/>
                </a:cubicBezTo>
                <a:cubicBezTo>
                  <a:pt x="3249" y="8294"/>
                  <a:pt x="3417" y="8383"/>
                  <a:pt x="3651" y="8523"/>
                </a:cubicBezTo>
                <a:lnTo>
                  <a:pt x="3755" y="8585"/>
                </a:lnTo>
                <a:lnTo>
                  <a:pt x="3584" y="9078"/>
                </a:lnTo>
                <a:cubicBezTo>
                  <a:pt x="3490" y="9350"/>
                  <a:pt x="3393" y="9632"/>
                  <a:pt x="3368" y="9705"/>
                </a:cubicBezTo>
                <a:cubicBezTo>
                  <a:pt x="3343" y="9778"/>
                  <a:pt x="3283" y="9949"/>
                  <a:pt x="3236" y="10085"/>
                </a:cubicBezTo>
                <a:cubicBezTo>
                  <a:pt x="3189" y="10221"/>
                  <a:pt x="3082" y="10527"/>
                  <a:pt x="3000" y="10765"/>
                </a:cubicBezTo>
                <a:cubicBezTo>
                  <a:pt x="2918" y="11003"/>
                  <a:pt x="2846" y="11206"/>
                  <a:pt x="2841" y="11216"/>
                </a:cubicBezTo>
                <a:cubicBezTo>
                  <a:pt x="2833" y="11230"/>
                  <a:pt x="2818" y="11219"/>
                  <a:pt x="2784" y="11176"/>
                </a:cubicBezTo>
                <a:close/>
                <a:moveTo>
                  <a:pt x="5574" y="11188"/>
                </a:moveTo>
                <a:cubicBezTo>
                  <a:pt x="5565" y="11164"/>
                  <a:pt x="5523" y="11043"/>
                  <a:pt x="5480" y="10918"/>
                </a:cubicBezTo>
                <a:cubicBezTo>
                  <a:pt x="5437" y="10794"/>
                  <a:pt x="5365" y="10587"/>
                  <a:pt x="5320" y="10458"/>
                </a:cubicBezTo>
                <a:cubicBezTo>
                  <a:pt x="5275" y="10330"/>
                  <a:pt x="5218" y="10165"/>
                  <a:pt x="5193" y="10092"/>
                </a:cubicBezTo>
                <a:cubicBezTo>
                  <a:pt x="5168" y="10018"/>
                  <a:pt x="5040" y="9649"/>
                  <a:pt x="4909" y="9272"/>
                </a:cubicBezTo>
                <a:lnTo>
                  <a:pt x="4671" y="8585"/>
                </a:lnTo>
                <a:lnTo>
                  <a:pt x="4705" y="8564"/>
                </a:lnTo>
                <a:cubicBezTo>
                  <a:pt x="4724" y="8552"/>
                  <a:pt x="4782" y="8519"/>
                  <a:pt x="4833" y="8489"/>
                </a:cubicBezTo>
                <a:cubicBezTo>
                  <a:pt x="4885" y="8459"/>
                  <a:pt x="4975" y="8407"/>
                  <a:pt x="5033" y="8372"/>
                </a:cubicBezTo>
                <a:cubicBezTo>
                  <a:pt x="5092" y="8338"/>
                  <a:pt x="5185" y="8294"/>
                  <a:pt x="5240" y="8274"/>
                </a:cubicBezTo>
                <a:cubicBezTo>
                  <a:pt x="5338" y="8240"/>
                  <a:pt x="5348" y="8239"/>
                  <a:pt x="5800" y="8231"/>
                </a:cubicBezTo>
                <a:cubicBezTo>
                  <a:pt x="6219" y="8224"/>
                  <a:pt x="6267" y="8221"/>
                  <a:pt x="6334" y="8196"/>
                </a:cubicBezTo>
                <a:cubicBezTo>
                  <a:pt x="6534" y="8121"/>
                  <a:pt x="6641" y="8029"/>
                  <a:pt x="6765" y="7819"/>
                </a:cubicBezTo>
                <a:cubicBezTo>
                  <a:pt x="6894" y="7602"/>
                  <a:pt x="6992" y="7432"/>
                  <a:pt x="7033" y="7355"/>
                </a:cubicBezTo>
                <a:cubicBezTo>
                  <a:pt x="7054" y="7317"/>
                  <a:pt x="7075" y="7285"/>
                  <a:pt x="7079" y="7285"/>
                </a:cubicBezTo>
                <a:cubicBezTo>
                  <a:pt x="7084" y="7285"/>
                  <a:pt x="7101" y="7323"/>
                  <a:pt x="7116" y="7368"/>
                </a:cubicBezTo>
                <a:cubicBezTo>
                  <a:pt x="7132" y="7414"/>
                  <a:pt x="7183" y="7563"/>
                  <a:pt x="7231" y="7698"/>
                </a:cubicBezTo>
                <a:cubicBezTo>
                  <a:pt x="7343" y="8020"/>
                  <a:pt x="7838" y="9451"/>
                  <a:pt x="7921" y="9692"/>
                </a:cubicBezTo>
                <a:cubicBezTo>
                  <a:pt x="7956" y="9794"/>
                  <a:pt x="8021" y="9983"/>
                  <a:pt x="8065" y="10111"/>
                </a:cubicBezTo>
                <a:cubicBezTo>
                  <a:pt x="8109" y="10240"/>
                  <a:pt x="8143" y="10346"/>
                  <a:pt x="8141" y="10348"/>
                </a:cubicBezTo>
                <a:cubicBezTo>
                  <a:pt x="8139" y="10351"/>
                  <a:pt x="7982" y="10314"/>
                  <a:pt x="7792" y="10266"/>
                </a:cubicBezTo>
                <a:cubicBezTo>
                  <a:pt x="7602" y="10219"/>
                  <a:pt x="7255" y="10132"/>
                  <a:pt x="7020" y="10074"/>
                </a:cubicBezTo>
                <a:lnTo>
                  <a:pt x="6593" y="9967"/>
                </a:lnTo>
                <a:lnTo>
                  <a:pt x="6556" y="10009"/>
                </a:lnTo>
                <a:cubicBezTo>
                  <a:pt x="6535" y="10033"/>
                  <a:pt x="6314" y="10314"/>
                  <a:pt x="6064" y="10635"/>
                </a:cubicBezTo>
                <a:cubicBezTo>
                  <a:pt x="5814" y="10957"/>
                  <a:pt x="5605" y="11222"/>
                  <a:pt x="5599" y="11225"/>
                </a:cubicBezTo>
                <a:cubicBezTo>
                  <a:pt x="5594" y="11229"/>
                  <a:pt x="5582" y="11212"/>
                  <a:pt x="5574" y="11188"/>
                </a:cubicBezTo>
                <a:close/>
                <a:moveTo>
                  <a:pt x="4129" y="8404"/>
                </a:moveTo>
                <a:cubicBezTo>
                  <a:pt x="4094" y="8398"/>
                  <a:pt x="4025" y="8370"/>
                  <a:pt x="3976" y="8341"/>
                </a:cubicBezTo>
                <a:cubicBezTo>
                  <a:pt x="3403" y="8003"/>
                  <a:pt x="3376" y="7990"/>
                  <a:pt x="3167" y="7936"/>
                </a:cubicBezTo>
                <a:cubicBezTo>
                  <a:pt x="3073" y="7911"/>
                  <a:pt x="3007" y="7907"/>
                  <a:pt x="2620" y="7900"/>
                </a:cubicBezTo>
                <a:cubicBezTo>
                  <a:pt x="2200" y="7892"/>
                  <a:pt x="2178" y="7890"/>
                  <a:pt x="2125" y="7862"/>
                </a:cubicBezTo>
                <a:cubicBezTo>
                  <a:pt x="2040" y="7817"/>
                  <a:pt x="1979" y="7736"/>
                  <a:pt x="1828" y="7470"/>
                </a:cubicBezTo>
                <a:cubicBezTo>
                  <a:pt x="1648" y="7153"/>
                  <a:pt x="1589" y="7063"/>
                  <a:pt x="1489" y="6961"/>
                </a:cubicBezTo>
                <a:cubicBezTo>
                  <a:pt x="1378" y="6847"/>
                  <a:pt x="1305" y="6796"/>
                  <a:pt x="993" y="6619"/>
                </a:cubicBezTo>
                <a:cubicBezTo>
                  <a:pt x="647" y="6422"/>
                  <a:pt x="629" y="6409"/>
                  <a:pt x="573" y="6317"/>
                </a:cubicBezTo>
                <a:lnTo>
                  <a:pt x="527" y="6239"/>
                </a:lnTo>
                <a:lnTo>
                  <a:pt x="519" y="5786"/>
                </a:lnTo>
                <a:cubicBezTo>
                  <a:pt x="509" y="5178"/>
                  <a:pt x="508" y="5177"/>
                  <a:pt x="188" y="4627"/>
                </a:cubicBezTo>
                <a:cubicBezTo>
                  <a:pt x="43" y="4377"/>
                  <a:pt x="0" y="4281"/>
                  <a:pt x="0" y="4209"/>
                </a:cubicBezTo>
                <a:cubicBezTo>
                  <a:pt x="0" y="4140"/>
                  <a:pt x="51" y="4030"/>
                  <a:pt x="205" y="3766"/>
                </a:cubicBezTo>
                <a:cubicBezTo>
                  <a:pt x="512" y="3240"/>
                  <a:pt x="508" y="3253"/>
                  <a:pt x="519" y="2645"/>
                </a:cubicBezTo>
                <a:cubicBezTo>
                  <a:pt x="527" y="2203"/>
                  <a:pt x="527" y="2198"/>
                  <a:pt x="560" y="2133"/>
                </a:cubicBezTo>
                <a:cubicBezTo>
                  <a:pt x="603" y="2049"/>
                  <a:pt x="673" y="1989"/>
                  <a:pt x="835" y="1897"/>
                </a:cubicBezTo>
                <a:cubicBezTo>
                  <a:pt x="1501" y="1521"/>
                  <a:pt x="1504" y="1517"/>
                  <a:pt x="1800" y="1005"/>
                </a:cubicBezTo>
                <a:cubicBezTo>
                  <a:pt x="2008" y="643"/>
                  <a:pt x="2021" y="626"/>
                  <a:pt x="2120" y="567"/>
                </a:cubicBezTo>
                <a:lnTo>
                  <a:pt x="2180" y="532"/>
                </a:lnTo>
                <a:lnTo>
                  <a:pt x="2633" y="524"/>
                </a:lnTo>
                <a:cubicBezTo>
                  <a:pt x="3212" y="513"/>
                  <a:pt x="3256" y="503"/>
                  <a:pt x="3613" y="296"/>
                </a:cubicBezTo>
                <a:cubicBezTo>
                  <a:pt x="4063" y="35"/>
                  <a:pt x="4027" y="54"/>
                  <a:pt x="4108" y="26"/>
                </a:cubicBezTo>
                <a:cubicBezTo>
                  <a:pt x="4182" y="0"/>
                  <a:pt x="4244" y="0"/>
                  <a:pt x="4319" y="26"/>
                </a:cubicBezTo>
                <a:cubicBezTo>
                  <a:pt x="4400" y="54"/>
                  <a:pt x="4364" y="35"/>
                  <a:pt x="4813" y="296"/>
                </a:cubicBezTo>
                <a:cubicBezTo>
                  <a:pt x="5171" y="503"/>
                  <a:pt x="5215" y="513"/>
                  <a:pt x="5793" y="524"/>
                </a:cubicBezTo>
                <a:cubicBezTo>
                  <a:pt x="6290" y="532"/>
                  <a:pt x="6278" y="531"/>
                  <a:pt x="6378" y="619"/>
                </a:cubicBezTo>
                <a:cubicBezTo>
                  <a:pt x="6422" y="657"/>
                  <a:pt x="6443" y="690"/>
                  <a:pt x="6596" y="952"/>
                </a:cubicBezTo>
                <a:cubicBezTo>
                  <a:pt x="6632" y="1014"/>
                  <a:pt x="6699" y="1129"/>
                  <a:pt x="6745" y="1207"/>
                </a:cubicBezTo>
                <a:cubicBezTo>
                  <a:pt x="6835" y="1361"/>
                  <a:pt x="6942" y="1487"/>
                  <a:pt x="7058" y="1577"/>
                </a:cubicBezTo>
                <a:cubicBezTo>
                  <a:pt x="7127" y="1630"/>
                  <a:pt x="7288" y="1727"/>
                  <a:pt x="7593" y="1897"/>
                </a:cubicBezTo>
                <a:cubicBezTo>
                  <a:pt x="7738" y="1978"/>
                  <a:pt x="7833" y="2062"/>
                  <a:pt x="7874" y="2145"/>
                </a:cubicBezTo>
                <a:cubicBezTo>
                  <a:pt x="7898" y="2194"/>
                  <a:pt x="7901" y="2236"/>
                  <a:pt x="7907" y="2645"/>
                </a:cubicBezTo>
                <a:cubicBezTo>
                  <a:pt x="7917" y="3238"/>
                  <a:pt x="7920" y="3249"/>
                  <a:pt x="8190" y="3712"/>
                </a:cubicBezTo>
                <a:cubicBezTo>
                  <a:pt x="8252" y="3818"/>
                  <a:pt x="8321" y="3939"/>
                  <a:pt x="8345" y="3980"/>
                </a:cubicBezTo>
                <a:cubicBezTo>
                  <a:pt x="8391" y="4062"/>
                  <a:pt x="8426" y="4165"/>
                  <a:pt x="8427" y="4219"/>
                </a:cubicBezTo>
                <a:cubicBezTo>
                  <a:pt x="8427" y="4281"/>
                  <a:pt x="8376" y="4391"/>
                  <a:pt x="8238" y="4628"/>
                </a:cubicBezTo>
                <a:cubicBezTo>
                  <a:pt x="7914" y="5187"/>
                  <a:pt x="7918" y="5172"/>
                  <a:pt x="7908" y="5786"/>
                </a:cubicBezTo>
                <a:lnTo>
                  <a:pt x="7900" y="6241"/>
                </a:lnTo>
                <a:lnTo>
                  <a:pt x="7852" y="6320"/>
                </a:lnTo>
                <a:cubicBezTo>
                  <a:pt x="7798" y="6407"/>
                  <a:pt x="7768" y="6428"/>
                  <a:pt x="7347" y="6669"/>
                </a:cubicBezTo>
                <a:cubicBezTo>
                  <a:pt x="6937" y="6903"/>
                  <a:pt x="6897" y="6947"/>
                  <a:pt x="6565" y="7525"/>
                </a:cubicBezTo>
                <a:cubicBezTo>
                  <a:pt x="6436" y="7751"/>
                  <a:pt x="6383" y="7819"/>
                  <a:pt x="6301" y="7863"/>
                </a:cubicBezTo>
                <a:cubicBezTo>
                  <a:pt x="6249" y="7890"/>
                  <a:pt x="6225" y="7892"/>
                  <a:pt x="5807" y="7899"/>
                </a:cubicBezTo>
                <a:cubicBezTo>
                  <a:pt x="5386" y="7907"/>
                  <a:pt x="5361" y="7909"/>
                  <a:pt x="5236" y="7942"/>
                </a:cubicBezTo>
                <a:cubicBezTo>
                  <a:pt x="5082" y="7983"/>
                  <a:pt x="5014" y="8013"/>
                  <a:pt x="4833" y="8118"/>
                </a:cubicBezTo>
                <a:cubicBezTo>
                  <a:pt x="4760" y="8161"/>
                  <a:pt x="4643" y="8229"/>
                  <a:pt x="4573" y="8269"/>
                </a:cubicBezTo>
                <a:cubicBezTo>
                  <a:pt x="4332" y="8410"/>
                  <a:pt x="4271" y="8428"/>
                  <a:pt x="4129" y="8404"/>
                </a:cubicBezTo>
                <a:close/>
                <a:moveTo>
                  <a:pt x="4600" y="7337"/>
                </a:moveTo>
                <a:cubicBezTo>
                  <a:pt x="5174" y="7272"/>
                  <a:pt x="5764" y="7014"/>
                  <a:pt x="6237" y="6622"/>
                </a:cubicBezTo>
                <a:cubicBezTo>
                  <a:pt x="7095" y="5910"/>
                  <a:pt x="7518" y="4747"/>
                  <a:pt x="7314" y="3664"/>
                </a:cubicBezTo>
                <a:cubicBezTo>
                  <a:pt x="7267" y="3417"/>
                  <a:pt x="7234" y="3296"/>
                  <a:pt x="7164" y="3112"/>
                </a:cubicBezTo>
                <a:cubicBezTo>
                  <a:pt x="6718" y="1947"/>
                  <a:pt x="5663" y="1161"/>
                  <a:pt x="4420" y="1070"/>
                </a:cubicBezTo>
                <a:cubicBezTo>
                  <a:pt x="3974" y="1037"/>
                  <a:pt x="3493" y="1113"/>
                  <a:pt x="3058" y="1285"/>
                </a:cubicBezTo>
                <a:cubicBezTo>
                  <a:pt x="2456" y="1524"/>
                  <a:pt x="1950" y="1934"/>
                  <a:pt x="1593" y="2472"/>
                </a:cubicBezTo>
                <a:cubicBezTo>
                  <a:pt x="1451" y="2686"/>
                  <a:pt x="1375" y="2830"/>
                  <a:pt x="1285" y="3056"/>
                </a:cubicBezTo>
                <a:cubicBezTo>
                  <a:pt x="960" y="3871"/>
                  <a:pt x="991" y="4774"/>
                  <a:pt x="1372" y="5572"/>
                </a:cubicBezTo>
                <a:cubicBezTo>
                  <a:pt x="1670" y="6194"/>
                  <a:pt x="2166" y="6698"/>
                  <a:pt x="2801" y="7023"/>
                </a:cubicBezTo>
                <a:cubicBezTo>
                  <a:pt x="3346" y="7302"/>
                  <a:pt x="3962" y="7410"/>
                  <a:pt x="4600" y="7337"/>
                </a:cubicBezTo>
                <a:close/>
                <a:moveTo>
                  <a:pt x="4053" y="6717"/>
                </a:moveTo>
                <a:cubicBezTo>
                  <a:pt x="3800" y="6696"/>
                  <a:pt x="3540" y="6640"/>
                  <a:pt x="3338" y="6565"/>
                </a:cubicBezTo>
                <a:cubicBezTo>
                  <a:pt x="2508" y="6256"/>
                  <a:pt x="1895" y="5518"/>
                  <a:pt x="1739" y="4638"/>
                </a:cubicBezTo>
                <a:cubicBezTo>
                  <a:pt x="1710" y="4472"/>
                  <a:pt x="1700" y="4124"/>
                  <a:pt x="1719" y="3945"/>
                </a:cubicBezTo>
                <a:cubicBezTo>
                  <a:pt x="1811" y="3094"/>
                  <a:pt x="2322" y="2357"/>
                  <a:pt x="3087" y="1974"/>
                </a:cubicBezTo>
                <a:cubicBezTo>
                  <a:pt x="3299" y="1868"/>
                  <a:pt x="3528" y="1789"/>
                  <a:pt x="3740" y="1749"/>
                </a:cubicBezTo>
                <a:cubicBezTo>
                  <a:pt x="3878" y="1723"/>
                  <a:pt x="3943" y="1719"/>
                  <a:pt x="4213" y="1719"/>
                </a:cubicBezTo>
                <a:cubicBezTo>
                  <a:pt x="4484" y="1719"/>
                  <a:pt x="4549" y="1723"/>
                  <a:pt x="4687" y="1749"/>
                </a:cubicBezTo>
                <a:cubicBezTo>
                  <a:pt x="5075" y="1823"/>
                  <a:pt x="5495" y="2019"/>
                  <a:pt x="5800" y="2269"/>
                </a:cubicBezTo>
                <a:cubicBezTo>
                  <a:pt x="6252" y="2640"/>
                  <a:pt x="6577" y="3188"/>
                  <a:pt x="6680" y="3752"/>
                </a:cubicBezTo>
                <a:cubicBezTo>
                  <a:pt x="6716" y="3948"/>
                  <a:pt x="6729" y="4282"/>
                  <a:pt x="6708" y="4478"/>
                </a:cubicBezTo>
                <a:cubicBezTo>
                  <a:pt x="6614" y="5348"/>
                  <a:pt x="6073" y="6109"/>
                  <a:pt x="5287" y="6479"/>
                </a:cubicBezTo>
                <a:cubicBezTo>
                  <a:pt x="5206" y="6517"/>
                  <a:pt x="5103" y="6560"/>
                  <a:pt x="5059" y="6576"/>
                </a:cubicBezTo>
                <a:cubicBezTo>
                  <a:pt x="4925" y="6622"/>
                  <a:pt x="4680" y="6683"/>
                  <a:pt x="4573" y="6697"/>
                </a:cubicBezTo>
                <a:cubicBezTo>
                  <a:pt x="4458" y="6712"/>
                  <a:pt x="4141" y="6724"/>
                  <a:pt x="4053" y="6717"/>
                </a:cubicBezTo>
                <a:close/>
                <a:moveTo>
                  <a:pt x="3805" y="5377"/>
                </a:moveTo>
                <a:lnTo>
                  <a:pt x="4213" y="5163"/>
                </a:lnTo>
                <a:lnTo>
                  <a:pt x="4623" y="5379"/>
                </a:lnTo>
                <a:cubicBezTo>
                  <a:pt x="5074" y="5616"/>
                  <a:pt x="5112" y="5629"/>
                  <a:pt x="5178" y="5567"/>
                </a:cubicBezTo>
                <a:cubicBezTo>
                  <a:pt x="5235" y="5514"/>
                  <a:pt x="5234" y="5457"/>
                  <a:pt x="5173" y="5105"/>
                </a:cubicBezTo>
                <a:cubicBezTo>
                  <a:pt x="5143" y="4929"/>
                  <a:pt x="5108" y="4729"/>
                  <a:pt x="5097" y="4661"/>
                </a:cubicBezTo>
                <a:lnTo>
                  <a:pt x="5075" y="4537"/>
                </a:lnTo>
                <a:lnTo>
                  <a:pt x="5417" y="4201"/>
                </a:lnTo>
                <a:cubicBezTo>
                  <a:pt x="5784" y="3839"/>
                  <a:pt x="5797" y="3822"/>
                  <a:pt x="5754" y="3740"/>
                </a:cubicBezTo>
                <a:cubicBezTo>
                  <a:pt x="5716" y="3665"/>
                  <a:pt x="5694" y="3660"/>
                  <a:pt x="5033" y="3564"/>
                </a:cubicBezTo>
                <a:cubicBezTo>
                  <a:pt x="4887" y="3543"/>
                  <a:pt x="4762" y="3525"/>
                  <a:pt x="4757" y="3525"/>
                </a:cubicBezTo>
                <a:cubicBezTo>
                  <a:pt x="4751" y="3525"/>
                  <a:pt x="4653" y="3336"/>
                  <a:pt x="4538" y="3105"/>
                </a:cubicBezTo>
                <a:cubicBezTo>
                  <a:pt x="4363" y="2752"/>
                  <a:pt x="4323" y="2681"/>
                  <a:pt x="4287" y="2658"/>
                </a:cubicBezTo>
                <a:cubicBezTo>
                  <a:pt x="4233" y="2625"/>
                  <a:pt x="4192" y="2625"/>
                  <a:pt x="4138" y="2658"/>
                </a:cubicBezTo>
                <a:cubicBezTo>
                  <a:pt x="4102" y="2679"/>
                  <a:pt x="4061" y="2752"/>
                  <a:pt x="3888" y="3104"/>
                </a:cubicBezTo>
                <a:cubicBezTo>
                  <a:pt x="3774" y="3336"/>
                  <a:pt x="3676" y="3525"/>
                  <a:pt x="3670" y="3525"/>
                </a:cubicBezTo>
                <a:cubicBezTo>
                  <a:pt x="3665" y="3525"/>
                  <a:pt x="3540" y="3543"/>
                  <a:pt x="3393" y="3564"/>
                </a:cubicBezTo>
                <a:cubicBezTo>
                  <a:pt x="2734" y="3660"/>
                  <a:pt x="2711" y="3665"/>
                  <a:pt x="2673" y="3739"/>
                </a:cubicBezTo>
                <a:cubicBezTo>
                  <a:pt x="2657" y="3771"/>
                  <a:pt x="2655" y="3789"/>
                  <a:pt x="2667" y="3831"/>
                </a:cubicBezTo>
                <a:cubicBezTo>
                  <a:pt x="2678" y="3875"/>
                  <a:pt x="2737" y="3938"/>
                  <a:pt x="3016" y="4210"/>
                </a:cubicBezTo>
                <a:lnTo>
                  <a:pt x="3352" y="4537"/>
                </a:lnTo>
                <a:lnTo>
                  <a:pt x="3321" y="4707"/>
                </a:lnTo>
                <a:cubicBezTo>
                  <a:pt x="3233" y="5204"/>
                  <a:pt x="3199" y="5430"/>
                  <a:pt x="3205" y="5476"/>
                </a:cubicBezTo>
                <a:cubicBezTo>
                  <a:pt x="3215" y="5560"/>
                  <a:pt x="3277" y="5610"/>
                  <a:pt x="3355" y="5598"/>
                </a:cubicBezTo>
                <a:cubicBezTo>
                  <a:pt x="3378" y="5594"/>
                  <a:pt x="3580" y="5495"/>
                  <a:pt x="3805" y="5377"/>
                </a:cubicBezTo>
                <a:close/>
              </a:path>
            </a:pathLst>
          </a:custGeom>
          <a:solidFill>
            <a:srgbClr val="FEFDF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09">
              <a:defRPr/>
            </a:pPr>
            <a:endParaRPr lang="en-IN" sz="1600" dirty="0">
              <a:solidFill>
                <a:prstClr val="black"/>
              </a:solidFill>
              <a:latin typeface="Arial"/>
              <a:ea typeface="STKaiti"/>
              <a:cs typeface="Calibri" panose="020F050202020403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A5FFF66-8990-4D08-B2FD-3493B3063803}"/>
              </a:ext>
            </a:extLst>
          </p:cNvPr>
          <p:cNvSpPr/>
          <p:nvPr/>
        </p:nvSpPr>
        <p:spPr>
          <a:xfrm>
            <a:off x="243167" y="882506"/>
            <a:ext cx="11391692" cy="684801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/>
          <a:p>
            <a:pPr algn="l"/>
            <a:r>
              <a:rPr lang="en-US" sz="2000" b="1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deliver benchmarked outcome-based innovations to enable our customers solve their complex digital-industrial problems through Intelligent Microsoft Business Solutions</a:t>
            </a:r>
          </a:p>
        </p:txBody>
      </p:sp>
      <p:pic>
        <p:nvPicPr>
          <p:cNvPr id="217" name="Picture 2" descr="Image result for power Bi Logo">
            <a:extLst>
              <a:ext uri="{FF2B5EF4-FFF2-40B4-BE49-F238E27FC236}">
                <a16:creationId xmlns:a16="http://schemas.microsoft.com/office/drawing/2014/main" id="{D8AC399E-D722-4501-BA22-70E8A7BFC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rgbClr val="FCC320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24889" y1="52889" x2="24889" y2="52889"/>
                        <a14:foregroundMark x1="20889" y1="53333" x2="20889" y2="53333"/>
                        <a14:foregroundMark x1="17778" y1="53333" x2="17778" y2="53333"/>
                        <a14:foregroundMark x1="14667" y1="52889" x2="14667" y2="52889"/>
                        <a14:foregroundMark x1="39556" y1="51556" x2="39556" y2="51556"/>
                        <a14:foregroundMark x1="48000" y1="53333" x2="48000" y2="53333"/>
                        <a14:foregroundMark x1="57333" y1="50222" x2="57333" y2="50222"/>
                        <a14:foregroundMark x1="68000" y1="49778" x2="68000" y2="49778"/>
                        <a14:foregroundMark x1="70667" y1="51556" x2="70667" y2="51556"/>
                        <a14:foregroundMark x1="78222" y1="51556" x2="78222" y2="51556"/>
                        <a14:foregroundMark x1="86222" y1="49778" x2="86222" y2="49778"/>
                      </a14:backgroundRemoval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469" y="5565729"/>
            <a:ext cx="1248000" cy="12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8" name="Title 36">
            <a:extLst>
              <a:ext uri="{FF2B5EF4-FFF2-40B4-BE49-F238E27FC236}">
                <a16:creationId xmlns:a16="http://schemas.microsoft.com/office/drawing/2014/main" id="{8D87F355-6A97-4E94-966F-7621F3CDC5A2}"/>
              </a:ext>
            </a:extLst>
          </p:cNvPr>
          <p:cNvSpPr txBox="1">
            <a:spLocks/>
          </p:cNvSpPr>
          <p:nvPr/>
        </p:nvSpPr>
        <p:spPr bwMode="gray">
          <a:xfrm>
            <a:off x="571085" y="168454"/>
            <a:ext cx="11459013" cy="3814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514350" eaLnBrk="1" latinLnBrk="0" hangingPunct="1">
              <a:lnSpc>
                <a:spcPts val="2175"/>
              </a:lnSpc>
              <a:buNone/>
              <a:defRPr sz="2200" b="1" i="0">
                <a:solidFill>
                  <a:srgbClr val="2C2E8C"/>
                </a:solidFill>
                <a:latin typeface="Montserra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5pPr>
            <a:lvl6pPr marL="389626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6pPr>
            <a:lvl7pPr marL="779252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7pPr>
            <a:lvl8pPr marL="1168878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8pPr>
            <a:lvl9pPr marL="1558503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Microsoft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Dynamics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365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Practice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Overview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7E3A6BD-2F50-4023-9EDB-E59CE213AA0D}"/>
              </a:ext>
            </a:extLst>
          </p:cNvPr>
          <p:cNvCxnSpPr/>
          <p:nvPr/>
        </p:nvCxnSpPr>
        <p:spPr bwMode="auto">
          <a:xfrm>
            <a:off x="6700144" y="6730056"/>
            <a:ext cx="1097280" cy="0"/>
          </a:xfrm>
          <a:prstGeom prst="line">
            <a:avLst/>
          </a:prstGeom>
          <a:solidFill>
            <a:srgbClr val="BBBDC0"/>
          </a:solidFill>
          <a:ln w="19050" cap="flat" cmpd="sng" algn="ctr">
            <a:solidFill>
              <a:srgbClr val="FEFDF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20" name="Picture 18" descr="Image result for qlikview icon">
            <a:extLst>
              <a:ext uri="{FF2B5EF4-FFF2-40B4-BE49-F238E27FC236}">
                <a16:creationId xmlns:a16="http://schemas.microsoft.com/office/drawing/2014/main" id="{4893B715-01BC-4EA0-BC8C-51E3FBC69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8239" y="5936185"/>
            <a:ext cx="822859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Picture 20" descr="Related image">
            <a:extLst>
              <a:ext uri="{FF2B5EF4-FFF2-40B4-BE49-F238E27FC236}">
                <a16:creationId xmlns:a16="http://schemas.microsoft.com/office/drawing/2014/main" id="{3800E542-07F1-4F69-836E-94C26C9B1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430"/>
          <a:stretch/>
        </p:blipFill>
        <p:spPr bwMode="auto">
          <a:xfrm>
            <a:off x="4215552" y="5962613"/>
            <a:ext cx="662885" cy="26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Picture 22" descr="Image result for xpertdocs icon">
            <a:extLst>
              <a:ext uri="{FF2B5EF4-FFF2-40B4-BE49-F238E27FC236}">
                <a16:creationId xmlns:a16="http://schemas.microsoft.com/office/drawing/2014/main" id="{AEDCB6FC-760E-4F7F-B095-5116B918F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50" b="10654"/>
          <a:stretch/>
        </p:blipFill>
        <p:spPr bwMode="auto">
          <a:xfrm>
            <a:off x="10439527" y="5955390"/>
            <a:ext cx="663771" cy="36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Picture 38" descr="Image result for kingswaysoft icon">
            <a:extLst>
              <a:ext uri="{FF2B5EF4-FFF2-40B4-BE49-F238E27FC236}">
                <a16:creationId xmlns:a16="http://schemas.microsoft.com/office/drawing/2014/main" id="{986E3A29-D070-4100-B944-F0591BC6B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44535" y="5846552"/>
            <a:ext cx="897192" cy="5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34" descr="Related image">
            <a:extLst>
              <a:ext uri="{FF2B5EF4-FFF2-40B4-BE49-F238E27FC236}">
                <a16:creationId xmlns:a16="http://schemas.microsoft.com/office/drawing/2014/main" id="{255B2D56-0BA2-4416-BF36-9F8319D44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4235" y="6029786"/>
            <a:ext cx="1423720" cy="28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Picture 32" descr="Related image">
            <a:extLst>
              <a:ext uri="{FF2B5EF4-FFF2-40B4-BE49-F238E27FC236}">
                <a16:creationId xmlns:a16="http://schemas.microsoft.com/office/drawing/2014/main" id="{87B309B8-B00A-4E77-8E7F-103331F93A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106" t="19489" r="21647" b="22001"/>
          <a:stretch/>
        </p:blipFill>
        <p:spPr bwMode="auto">
          <a:xfrm>
            <a:off x="11190853" y="5951533"/>
            <a:ext cx="483267" cy="39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6" name="Picture 36" descr="Image result for azure icon">
            <a:extLst>
              <a:ext uri="{FF2B5EF4-FFF2-40B4-BE49-F238E27FC236}">
                <a16:creationId xmlns:a16="http://schemas.microsoft.com/office/drawing/2014/main" id="{EBEE9955-75B0-429D-92B8-24AF517A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29220" y="5954336"/>
            <a:ext cx="710443" cy="3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7" name="Parallelogram 226">
            <a:extLst>
              <a:ext uri="{FF2B5EF4-FFF2-40B4-BE49-F238E27FC236}">
                <a16:creationId xmlns:a16="http://schemas.microsoft.com/office/drawing/2014/main" id="{B87106E5-45C3-4B0D-85E7-9AA59AE00F4B}"/>
              </a:ext>
            </a:extLst>
          </p:cNvPr>
          <p:cNvSpPr/>
          <p:nvPr/>
        </p:nvSpPr>
        <p:spPr bwMode="auto">
          <a:xfrm>
            <a:off x="77144" y="5970602"/>
            <a:ext cx="1584893" cy="399972"/>
          </a:xfrm>
          <a:prstGeom prst="parallelogram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r>
              <a:rPr lang="en-US" sz="1200" b="1" kern="0" dirty="0">
                <a:solidFill>
                  <a:prstClr val="white"/>
                </a:solidFill>
                <a:latin typeface="Arial"/>
                <a:ea typeface="STKaiti"/>
                <a:cs typeface="Calibri" panose="020F0502020204030204" pitchFamily="34" charset="0"/>
              </a:rPr>
              <a:t>Technology </a:t>
            </a:r>
          </a:p>
          <a:p>
            <a:pPr defTabSz="1219170">
              <a:defRPr/>
            </a:pPr>
            <a:r>
              <a:rPr lang="en-US" sz="1200" b="1" kern="0" dirty="0">
                <a:solidFill>
                  <a:prstClr val="white"/>
                </a:solidFill>
                <a:latin typeface="Arial"/>
                <a:ea typeface="STKaiti"/>
                <a:cs typeface="Calibri" panose="020F0502020204030204" pitchFamily="34" charset="0"/>
              </a:rPr>
              <a:t>Stack</a:t>
            </a:r>
            <a:endParaRPr lang="en-IN" sz="1200" b="1" kern="0" dirty="0">
              <a:solidFill>
                <a:prstClr val="white"/>
              </a:solidFill>
              <a:latin typeface="Arial"/>
              <a:ea typeface="STKaiti"/>
              <a:cs typeface="Calibri" panose="020F0502020204030204" pitchFamily="34" charset="0"/>
            </a:endParaRPr>
          </a:p>
        </p:txBody>
      </p:sp>
      <p:pic>
        <p:nvPicPr>
          <p:cNvPr id="228" name="Picture 28" descr="Image result for experlogix icon">
            <a:extLst>
              <a:ext uri="{FF2B5EF4-FFF2-40B4-BE49-F238E27FC236}">
                <a16:creationId xmlns:a16="http://schemas.microsoft.com/office/drawing/2014/main" id="{767CC90C-B6F5-4E73-A0F3-41D4B7491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127" b="36116"/>
          <a:stretch/>
        </p:blipFill>
        <p:spPr bwMode="auto">
          <a:xfrm>
            <a:off x="8634132" y="5971217"/>
            <a:ext cx="909989" cy="37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0BCB928E-C473-49F1-BCCA-EAC3ECDF55BD}"/>
              </a:ext>
            </a:extLst>
          </p:cNvPr>
          <p:cNvCxnSpPr/>
          <p:nvPr/>
        </p:nvCxnSpPr>
        <p:spPr bwMode="auto">
          <a:xfrm>
            <a:off x="472413" y="5843725"/>
            <a:ext cx="11088000" cy="0"/>
          </a:xfrm>
          <a:prstGeom prst="line">
            <a:avLst/>
          </a:prstGeom>
          <a:solidFill>
            <a:srgbClr val="BBBDC0"/>
          </a:solidFill>
          <a:ln w="3175" cap="flat" cmpd="sng" algn="ctr">
            <a:solidFill>
              <a:srgbClr val="124079">
                <a:lumMod val="75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30" name="Picture 2" descr="microsoft-powerapps-stacked400x200 - Ant Text">
            <a:extLst>
              <a:ext uri="{FF2B5EF4-FFF2-40B4-BE49-F238E27FC236}">
                <a16:creationId xmlns:a16="http://schemas.microsoft.com/office/drawing/2014/main" id="{3D713ABB-0A4A-41A1-9E4C-8C485E97B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6" r="15633"/>
          <a:stretch/>
        </p:blipFill>
        <p:spPr bwMode="auto">
          <a:xfrm>
            <a:off x="1636562" y="5952240"/>
            <a:ext cx="698581" cy="50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4" descr="Office 365 Governance - Powerful Governance Automation with Rencore">
            <a:extLst>
              <a:ext uri="{FF2B5EF4-FFF2-40B4-BE49-F238E27FC236}">
                <a16:creationId xmlns:a16="http://schemas.microsoft.com/office/drawing/2014/main" id="{3AFCCA04-CF00-4D04-9436-418FB4147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3" t="17877" r="15259" b="3642"/>
          <a:stretch/>
        </p:blipFill>
        <p:spPr bwMode="auto">
          <a:xfrm>
            <a:off x="2437527" y="5880747"/>
            <a:ext cx="1001743" cy="727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Picture 6" descr="Power BI Logo - Dynamic Tech Services">
            <a:extLst>
              <a:ext uri="{FF2B5EF4-FFF2-40B4-BE49-F238E27FC236}">
                <a16:creationId xmlns:a16="http://schemas.microsoft.com/office/drawing/2014/main" id="{7D07D37F-7211-4FC3-A5A5-8BA93B4DE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941" y="5883689"/>
            <a:ext cx="639528" cy="58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46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82" y="2206"/>
          <a:ext cx="1679" cy="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5" name="Objek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" y="2206"/>
                        <a:ext cx="1679" cy="16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88894AA9-628B-4EF8-86A4-A76D3D610D87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1" y="526"/>
            <a:ext cx="167980" cy="16798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algn="ctr" defTabSz="483862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  <a:defRPr/>
            </a:pPr>
            <a:endParaRPr lang="en-US" sz="3386" dirty="0" err="1">
              <a:solidFill>
                <a:srgbClr val="4B4B4B"/>
              </a:solidFill>
              <a:latin typeface="TeleGrotesk Next Ultra" pitchFamily="2" charset="0"/>
              <a:cs typeface="TeleGrotesk Next Ultra" pitchFamily="2" charset="0"/>
              <a:sym typeface="TeleGrotesk Next Ultra" pitchFamily="2" charset="0"/>
            </a:endParaRPr>
          </a:p>
        </p:txBody>
      </p:sp>
      <p:sp>
        <p:nvSpPr>
          <p:cNvPr id="17418" name="AutoShape 16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17419" name="AutoShape 17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427" name="AutoShape 102"/>
          <p:cNvSpPr>
            <a:spLocks noChangeAspect="1" noChangeArrowheads="1" noTextEdit="1"/>
          </p:cNvSpPr>
          <p:nvPr/>
        </p:nvSpPr>
        <p:spPr bwMode="auto">
          <a:xfrm>
            <a:off x="9986837" y="1812722"/>
            <a:ext cx="801522" cy="979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757" tIns="48378" rIns="96757" bIns="48378" numCol="1" anchor="t" anchorCtr="0" compatLnSpc="1">
            <a:prstTxWarp prst="textNoShape">
              <a:avLst/>
            </a:prstTxWarp>
          </a:bodyPr>
          <a:lstStyle/>
          <a:p>
            <a:pPr defTabSz="1219084">
              <a:defRPr/>
            </a:pPr>
            <a:endParaRPr lang="en-US" sz="2434" dirty="0">
              <a:solidFill>
                <a:srgbClr val="4B4B4B"/>
              </a:solidFill>
              <a:latin typeface="TeleGrotesk Next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31ED8236-F742-4994-B025-3D78EEC04644}" type="slidenum">
              <a:rPr lang="en-US">
                <a:solidFill>
                  <a:srgbClr val="4B4B4B"/>
                </a:solidFill>
              </a:rPr>
              <a:pPr fontAlgn="base">
                <a:spcAft>
                  <a:spcPct val="0"/>
                </a:spcAft>
                <a:defRPr/>
              </a:pPr>
              <a:t>3</a:t>
            </a:fld>
            <a:endParaRPr lang="en-US" dirty="0">
              <a:solidFill>
                <a:srgbClr val="4B4B4B"/>
              </a:solidFill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D883CA72-5D75-4781-95BD-8E87ACC9CD3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7872" y="318041"/>
            <a:ext cx="11504128" cy="53338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0" lang="en-US" alt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E20074"/>
                </a:solidFill>
                <a:effectLst/>
                <a:uLnTx/>
                <a:uFillTx/>
                <a:latin typeface="TeleNeo Office ExtraBold"/>
                <a:ea typeface="+mj-ea"/>
                <a:cs typeface="+mj-cs"/>
              </a:rPr>
              <a:t> </a:t>
            </a:r>
            <a:endParaRPr lang="en-IN" sz="1800" b="0" i="0" u="none" strike="noStrike" baseline="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Dynamics</a:t>
            </a:r>
            <a:r>
              <a:rPr lang="en-IN" sz="3200" b="0" i="0" u="none" strike="noStrike" baseline="0" dirty="0">
                <a:latin typeface="Segoe UI" panose="020B0502040204020203" pitchFamily="34" charset="0"/>
              </a:rPr>
              <a:t> 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365 as part of the Microsoft Platform</a:t>
            </a:r>
            <a:endParaRPr lang="en-US" altLang="de-DE" sz="3200" dirty="0">
              <a:solidFill>
                <a:srgbClr val="E20074"/>
              </a:solidFill>
              <a:latin typeface="TeleNeo Office ExtraBold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8FA3593-6A63-44BB-9B37-AA6D418F2B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83" y="1198484"/>
            <a:ext cx="10990556" cy="48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7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82" y="2206"/>
          <a:ext cx="1679" cy="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5" name="Objek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" y="2206"/>
                        <a:ext cx="1679" cy="16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88894AA9-628B-4EF8-86A4-A76D3D610D87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1" y="526"/>
            <a:ext cx="167980" cy="16798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algn="ctr" defTabSz="483862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  <a:defRPr/>
            </a:pPr>
            <a:endParaRPr lang="en-US" sz="3386" dirty="0" err="1">
              <a:solidFill>
                <a:srgbClr val="4B4B4B"/>
              </a:solidFill>
              <a:latin typeface="TeleGrotesk Next Ultra" pitchFamily="2" charset="0"/>
              <a:cs typeface="TeleGrotesk Next Ultra" pitchFamily="2" charset="0"/>
              <a:sym typeface="TeleGrotesk Next Ultra" pitchFamily="2" charset="0"/>
            </a:endParaRPr>
          </a:p>
        </p:txBody>
      </p:sp>
      <p:sp>
        <p:nvSpPr>
          <p:cNvPr id="17418" name="AutoShape 16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17419" name="AutoShape 17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427" name="AutoShape 102"/>
          <p:cNvSpPr>
            <a:spLocks noChangeAspect="1" noChangeArrowheads="1" noTextEdit="1"/>
          </p:cNvSpPr>
          <p:nvPr/>
        </p:nvSpPr>
        <p:spPr bwMode="auto">
          <a:xfrm>
            <a:off x="9986837" y="1812722"/>
            <a:ext cx="801522" cy="979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757" tIns="48378" rIns="96757" bIns="48378" numCol="1" anchor="t" anchorCtr="0" compatLnSpc="1">
            <a:prstTxWarp prst="textNoShape">
              <a:avLst/>
            </a:prstTxWarp>
          </a:bodyPr>
          <a:lstStyle/>
          <a:p>
            <a:pPr defTabSz="1219084">
              <a:defRPr/>
            </a:pPr>
            <a:endParaRPr lang="en-US" sz="2434" dirty="0">
              <a:solidFill>
                <a:srgbClr val="4B4B4B"/>
              </a:solidFill>
              <a:latin typeface="TeleGrotesk Next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31ED8236-F742-4994-B025-3D78EEC04644}" type="slidenum">
              <a:rPr lang="en-US">
                <a:solidFill>
                  <a:srgbClr val="4B4B4B"/>
                </a:solidFill>
              </a:rPr>
              <a:pPr fontAlgn="base">
                <a:spcAft>
                  <a:spcPct val="0"/>
                </a:spcAft>
                <a:defRPr/>
              </a:pPr>
              <a:t>4</a:t>
            </a:fld>
            <a:endParaRPr lang="en-US" dirty="0">
              <a:solidFill>
                <a:srgbClr val="4B4B4B"/>
              </a:solidFill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D883CA72-5D75-4781-95BD-8E87ACC9CD3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7872" y="318041"/>
            <a:ext cx="11504128" cy="53338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0" lang="en-US" alt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E20074"/>
                </a:solidFill>
                <a:effectLst/>
                <a:uLnTx/>
                <a:uFillTx/>
                <a:latin typeface="TeleNeo Office ExtraBold"/>
                <a:ea typeface="+mj-ea"/>
                <a:cs typeface="+mj-cs"/>
              </a:rPr>
              <a:t> </a:t>
            </a:r>
            <a:endParaRPr lang="en-IN" sz="1800" b="0" i="0" u="none" strike="noStrike" baseline="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Dynamics</a:t>
            </a:r>
            <a:r>
              <a:rPr lang="en-IN" sz="3200" b="0" i="0" u="none" strike="noStrike" baseline="0" dirty="0">
                <a:latin typeface="Segoe UI" panose="020B0502040204020203" pitchFamily="34" charset="0"/>
              </a:rPr>
              <a:t> 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365  Integrations</a:t>
            </a:r>
            <a:endParaRPr lang="en-US" altLang="de-DE" sz="3200" dirty="0">
              <a:solidFill>
                <a:srgbClr val="E20074"/>
              </a:solidFill>
              <a:latin typeface="TeleNeo Office ExtraBold"/>
            </a:endParaRPr>
          </a:p>
        </p:txBody>
      </p:sp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BA5CF6C-BB4A-4D0D-A62F-6E573C7B7B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43" y="866154"/>
            <a:ext cx="11248008" cy="56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1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485000"/>
            <a:ext cx="6336000" cy="1944000"/>
          </a:xfrm>
        </p:spPr>
        <p:txBody>
          <a:bodyPr/>
          <a:lstStyle/>
          <a:p>
            <a:pPr algn="ctr"/>
            <a:r>
              <a:rPr lang="en-US" sz="4800" dirty="0"/>
              <a:t>Case Studies on D365</a:t>
            </a:r>
          </a:p>
        </p:txBody>
      </p:sp>
    </p:spTree>
    <p:extLst>
      <p:ext uri="{BB962C8B-B14F-4D97-AF65-F5344CB8AC3E}">
        <p14:creationId xmlns:p14="http://schemas.microsoft.com/office/powerpoint/2010/main" val="262692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1988840"/>
            <a:ext cx="8520000" cy="1944000"/>
          </a:xfrm>
        </p:spPr>
        <p:txBody>
          <a:bodyPr/>
          <a:lstStyle/>
          <a:p>
            <a:r>
              <a:rPr lang="en-IN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Dynamics 365 Integration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0223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IN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Dynamics 365 Integration for a Global Retail Company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9" y="1046393"/>
            <a:ext cx="10808209" cy="34358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400" b="1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 Background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global retail company operates both B2B and B2C sales. They use Salesforce Sales Cloud for lead and opportunity management and Microsoft Dynamics 365 Finance &amp; Operations (D365 F&amp;O) for financial and order processing.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Challenge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 teams in Salesforce needed real-time access to customer credit limits, invoices, and order statuses stored in D365.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Finance teams in D365 required instant updates on new customer sign-ups and sales opportunities from Salesforce.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integration caused delays in order approvals and manual data entry errors.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/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2654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IN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Dynamics 365 Integration for a Global Retail Company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74452" y="1057616"/>
            <a:ext cx="10808209" cy="49739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API-Based Integration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have implemented an API-based real-time integration using Azure Logic Apps and Power Automate with the following key components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IN" sz="14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Synchronizing Customer Data (Salesforce → D365)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 a new account is created or updated in Salesforce, a Power Automate flow triggers.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flow calls the D365 Web API to create or update the customer record in Dynamics 365.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confirmation is logged in Salesforce with the D365 Customer ID.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&amp; Invoice Sync (D365 → Salesforce)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When an order is placed in Salesforce, a Logic App is triggered to: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Validate the customer's credit limit in D365 F&amp;O.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approved, it automatically creates the order in D365.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Sends an instant update back to Salesforce with the order status and estimated delivery date.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IN" sz="14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Case Management (D365 Customer Service ↔ Salesforce Service Cloud)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a customer raises a complaint in Salesforce Service Cloud, it triggers an API request to create a case in D365 Customer Service. Any</a:t>
            </a: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updates in D365 (like case resolution or SLA breaches) are immediately reflected in Salesforce.</a:t>
            </a:r>
            <a:endParaRPr lang="en-US" sz="1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752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IN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Dynamics 365 Integration for a Global Retail Company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381000" y="745995"/>
            <a:ext cx="10808209" cy="5709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Impact &amp; Results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Order Processing – No delays in finance approvals, reducing order fulfillment time by 40%.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Eliminated Data Entry – API automation prevented human errors and saved 100+ hours per month.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Better Customer Service – Instant case updates helped customer service teams respond 30% faster.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Decision-Making – Sales and finance teams had real-time visibility into orders and customer status.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Technology Stack Used</a:t>
            </a:r>
          </a:p>
          <a:p>
            <a:pPr>
              <a:lnSpc>
                <a:spcPct val="107000"/>
              </a:lnSpc>
            </a:pPr>
            <a:endParaRPr lang="en-IN" sz="1400" b="1" kern="100" dirty="0">
              <a:solidFill>
                <a:schemeClr val="tx2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(Sales Cloud, Service Cloud, REST API)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F&amp;O, Customer Service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Logic Apps (for API orchestration)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Automate (for Salesforce-D365 triggers)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Dataverse (for unified data storage)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Key Takeaways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API-based real-time sync ensured seamless data flow.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Power Automate &amp; Logic Apps simplified integration without extensive custom coding.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Customer satisfaction improved with faster issue resolution.</a:t>
            </a:r>
          </a:p>
          <a:p>
            <a:pPr lvl="1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609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1988840"/>
            <a:ext cx="8748600" cy="1944000"/>
          </a:xfrm>
        </p:spPr>
        <p:txBody>
          <a:bodyPr/>
          <a:lstStyle/>
          <a:p>
            <a:pPr lvl="0"/>
            <a:r>
              <a:rPr lang="en-US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management</a:t>
            </a:r>
            <a:endParaRPr lang="en-IN" sz="32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9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Analysis for Intelligence Customer Management with D365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9" y="1046393"/>
            <a:ext cx="10808209" cy="47745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b="1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 Background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 of the Company  focuses on various domains such as vehicle engineering, digital transformation, artificial intelligence, and customer experience innovation. As a key digital transformation hub, It plays a critical role in product development, connected vehicle technology, and customer service enhancements.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Rapid growth of the automotive industry and increasing customer expectations for personalized, digital-first experiences, leverage advanced Customer Relationship Management (CRM) solutions to improve its engagement strategies.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Challenge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company faced several challenges in managing customer interactions, support services, and after-sales operations effectively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Disparate Customer Data – Customer insights were fragmented across different systems, leading to inconsistent experiences.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Predictive Insights – There was no AI-driven intelligence to anticipate customer needs, impacting proactive engagement.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Manual Service Request Handling – Customer service teams relied on manual processes, leading to delays in query resolution.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Limited Integration with Connected Car Services – Customer support teams lacked real-time access to vehicle performance and telematics data.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Inefficient Omni-Channel Communication – Managing inquiries from multiple channels (email, phone, website, social media) was time-consuming and lacked automation.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/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3010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anagement with D365</a:t>
            </a:r>
            <a:endParaRPr lang="en-IN" sz="2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8" y="737268"/>
            <a:ext cx="10808209" cy="5743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IN" sz="16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Customer Insights &amp; Customer Service to create a centralized, AI-driven customer engagement platform.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Unified Customer Data Platform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customer profiles across dealership interactions, service requests, and connected vehicle data.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Enabled a 360-degree view of customers by merging insights from sales, marketing, and after-sales service.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AI-Powered Predictive Customer Insights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Implemented Microsoft AI &amp; Machine Learning to predict vehicle service needs based on historical data and driving patterns.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Used AI-driven lead scoring to personalize marketing campaigns and improve conversion rates.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Case &amp; Service Request Management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Integrated D365 Customer Service with self-service portals &amp; chatbots for instant query resolution.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Enabled intelligent case routing to match customer queries with the best available service agents.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 with Connected Car Services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Connected vehicle data from IoT platforms with D365, allowing real-time vehicle diagnostics.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Enabled proactive service alerts and personalized service recommendations.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Omni-Channel Customer Engagement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Automated email, social media, and chatbot interactions using Power Automate and Azure Logic Apps.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 Provided seamless communication across platforms to improve customer satisfaction.</a:t>
            </a:r>
            <a:endParaRPr lang="en-IN" sz="1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78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anagement with D365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381000" y="745995"/>
            <a:ext cx="10808209" cy="57853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Impact &amp; Results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30% Improvement in Customer Service Efficiency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case routing reduced response time for service requests.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40% Reduction in Manual Effort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AI-driven automation reduced repetitive tasks in customer support.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Vehicle Diagnostics for Proactive Maintenance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vehicle data helped identify potential issues before they became critical.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Enhanced Omni-Channel Engagement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customer satisfaction scores due to faster query resolution across multiple platforms.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Data-Driven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Decision Making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BI dashboards provided real-time insights into customer interactions, service performance, and predictive analytics.</a:t>
            </a:r>
          </a:p>
          <a:p>
            <a:pPr lvl="2">
              <a:lnSpc>
                <a:spcPct val="107000"/>
              </a:lnSpc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Technology Stack Used</a:t>
            </a:r>
          </a:p>
          <a:p>
            <a:pPr>
              <a:lnSpc>
                <a:spcPct val="107000"/>
              </a:lnSpc>
            </a:pPr>
            <a:endParaRPr lang="en-IN" sz="2000" b="1" kern="100" dirty="0">
              <a:solidFill>
                <a:schemeClr val="tx2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Customer Insights &amp; Customer Service – CRM &amp; AI-driven analytics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AI &amp; Machine Learning – Predictive customer insights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Automate &amp; Azure Logic Apps – Intelligent workflow automation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Power BI – Data visualization and reporting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IoT &amp; Connected Car Services – Real-time vehicle diagnostics &amp; telematics integration 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 Chatbots &amp; Virtual Agents – Self-service customer engagement</a:t>
            </a:r>
          </a:p>
          <a:p>
            <a:pPr lvl="1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2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1988840"/>
            <a:ext cx="8748600" cy="1944000"/>
          </a:xfrm>
        </p:spPr>
        <p:txBody>
          <a:bodyPr/>
          <a:lstStyle/>
          <a:p>
            <a:pPr lvl="0"/>
            <a:r>
              <a:rPr lang="en-US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Integration of Microsoft Dynamics 365 with ServiceNow </a:t>
            </a:r>
            <a:endParaRPr lang="en-IN" sz="32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023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Integration of Microsoft Dynamics 365 with ServiceNow 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9" y="1046393"/>
            <a:ext cx="10808209" cy="43508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b="1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 Background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 of the Company  focuses on various domains such as vehicle engineering, digital transformation, artificial intelligence, and customer experience innovation. As a key digital transformation hub, It plays a critical role in product development, connected vehicle technology, and customer service enhancements.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Rapid growth of the automotive industry and increasing customer expectations for personalized, digital-first experiences, leverage advanced Customer Relationship Management (CRM) solutions to improve its engagement strategies.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Challenge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Company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 managing IT service requests and customer support processes across ServiceNow (ITSM platform) and Microsoft Dynamics 365 Customer Service (CRM &amp; ERP). However, the lack of integration led to multiple inefficiencies:</a:t>
            </a: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Silos Between IT &amp; Customer Support Teams – IT service tickets in ServiceNow were not linked with customer records in D365.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Manual Case Management &amp; Duplication of Efforts – Agents had to manually update incidents and cases across both platforms.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Delayed Issue Resolution – No real-time sync of incident updates from ServiceNow to D365.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Lack of Visibility in IT &amp; Business Operations – No consolidated reporting for ITSM &amp; customer service teams.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9809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Integration of Microsoft Dynamics 365 with ServiceNow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/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/>
            </a:r>
            <a:endParaRPr lang="en-IN" sz="2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8" y="737268"/>
            <a:ext cx="10808209" cy="60854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IN" sz="16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Incident &amp; Case Synchronization (ServiceNow ↔ D365)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ticket creation in ServiceNow when a case is logged in D365 Customer Service.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Incident status updates in real-time sync with D365 for visibility across teams.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Workflows for Faster Resolution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AI-based case routing assigned incidents to the right IT teams based on priority.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Automated SLA tracking ensured faster response times.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Unified Customer &amp; ITSM Data for Better Decision Making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ServiceNow incidents linked to D365 customer records for full visibility.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Single source of truth for ITSM &amp; customer service teams through Power BI dashboards.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Proactive Issue Resolution &amp; Service Automation (IoT &amp; AI-driven Service Management)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IoT alerts trigger automatic incident creation in ServiceNow when a system detects failures.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AI-driven sentiment analysis in D365 provides insights on customer feedback.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Business Impact &amp; Results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35% Faster IT Incident Resolution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case routing &amp; SLA tracking reduced response times.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50% Reduction in Manual Workload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Eliminated duplicate data entry between IT &amp; customer service teams.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Visibility Across IT &amp; Business Operations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Power BI dashboards provided real-time insights into incident trends &amp; resolution times.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Increased Customer Satisfaction Scores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Faster case resolutions led to enhanced customer experience &amp; reduced downtime</a:t>
            </a: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IN" sz="1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40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460000" cy="228600"/>
          </a:xfrm>
          <a:prstGeom prst="rect">
            <a:avLst/>
          </a:prstGeom>
        </p:spPr>
        <p:txBody>
          <a:bodyPr wrap="none" lIns="9144" rIns="9144" tIns="9144" bIns="9144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Integration of Microsoft Dynamics 365 with ServiceNow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/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/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381000" y="745995"/>
            <a:ext cx="10808209" cy="23567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Technology Stack Used</a:t>
            </a:r>
          </a:p>
          <a:p>
            <a:pPr>
              <a:lnSpc>
                <a:spcPct val="107000"/>
              </a:lnSpc>
            </a:pPr>
            <a:endParaRPr lang="en-IN" sz="2000" b="1" kern="100" dirty="0">
              <a:solidFill>
                <a:schemeClr val="tx2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Customer Service – Case &amp; Customer Management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ServiceNow ITSM – Incident &amp; IT Service Request Management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Azure Logic Apps – API Integration &amp; Real-time Sync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Power Automate – Workflow Automation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Power BI – Data Analytics &amp; Reporting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600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EBA9-CF3D-B115-6AC2-C9B915B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F2D2D-4994-FFD0-20EB-B83CC55B1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confidential, internal, open | author | presentation title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F2F1-097C-4A76-A4FD-BB15231E3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none" lIns="9144" rIns="9144" tIns="9144" bIns="9144"/>
          <a:lstStyle/>
          <a:p>
            <a:fld id="{A1A5E10D-79A5-49BA-9648-53481340C65F}" type="slidenum">
              <a:rPr lang="de-DE" smtClean="0"/>
              <a:pPr/>
              <a:t>18</a:t>
            </a:fld>
            <a:endParaRPr lang="de-DE"/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550F8F63-9B91-C674-8CA1-CD0ED51FCA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1868" y="526"/>
            <a:ext cx="12190133" cy="6856950"/>
          </a:xfrm>
          <a:custGeom>
            <a:avLst/>
            <a:gdLst/>
            <a:ahLst/>
            <a:cxnLst/>
            <a:rect l="l" t="t" r="r" b="b"/>
            <a:pathLst>
              <a:path w="11520311" h="6480175"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lnTo>
                  <a:pt x="0" y="0"/>
                </a:lnTo>
                <a:close/>
                <a:moveTo>
                  <a:pt x="8614449" y="1150656"/>
                </a:moveTo>
                <a:cubicBezTo>
                  <a:pt x="8458180" y="1150656"/>
                  <a:pt x="8329815" y="1207707"/>
                  <a:pt x="8229357" y="1321808"/>
                </a:cubicBezTo>
                <a:cubicBezTo>
                  <a:pt x="8123316" y="1442111"/>
                  <a:pt x="8070296" y="1603341"/>
                  <a:pt x="8070297" y="1805499"/>
                </a:cubicBezTo>
                <a:cubicBezTo>
                  <a:pt x="8070296" y="1991535"/>
                  <a:pt x="8111224" y="2143464"/>
                  <a:pt x="8193080" y="2261286"/>
                </a:cubicBezTo>
                <a:cubicBezTo>
                  <a:pt x="8294160" y="2407013"/>
                  <a:pt x="8434616" y="2479877"/>
                  <a:pt x="8614449" y="2479877"/>
                </a:cubicBezTo>
                <a:cubicBezTo>
                  <a:pt x="8696924" y="2479877"/>
                  <a:pt x="8771958" y="2463134"/>
                  <a:pt x="8839552" y="2429647"/>
                </a:cubicBezTo>
                <a:cubicBezTo>
                  <a:pt x="8915206" y="2391820"/>
                  <a:pt x="8977838" y="2337250"/>
                  <a:pt x="9027447" y="2265937"/>
                </a:cubicBezTo>
                <a:cubicBezTo>
                  <a:pt x="9111163" y="2145014"/>
                  <a:pt x="9153021" y="1994635"/>
                  <a:pt x="9153021" y="1814801"/>
                </a:cubicBezTo>
                <a:cubicBezTo>
                  <a:pt x="9153021" y="1604581"/>
                  <a:pt x="9097520" y="1437770"/>
                  <a:pt x="8986520" y="1314367"/>
                </a:cubicBezTo>
                <a:cubicBezTo>
                  <a:pt x="8889160" y="1205226"/>
                  <a:pt x="8765138" y="1150656"/>
                  <a:pt x="8614449" y="1150656"/>
                </a:cubicBezTo>
                <a:close/>
                <a:moveTo>
                  <a:pt x="9348544" y="1179491"/>
                </a:moveTo>
                <a:lnTo>
                  <a:pt x="9348544" y="1900377"/>
                </a:lnTo>
                <a:cubicBezTo>
                  <a:pt x="9348544" y="1998976"/>
                  <a:pt x="9354590" y="2078041"/>
                  <a:pt x="9366683" y="2137572"/>
                </a:cubicBezTo>
                <a:cubicBezTo>
                  <a:pt x="9378775" y="2197104"/>
                  <a:pt x="9399394" y="2249814"/>
                  <a:pt x="9428539" y="2295702"/>
                </a:cubicBezTo>
                <a:cubicBezTo>
                  <a:pt x="9507295" y="2418485"/>
                  <a:pt x="9637829" y="2479877"/>
                  <a:pt x="9820143" y="2479877"/>
                </a:cubicBezTo>
                <a:cubicBezTo>
                  <a:pt x="9947266" y="2479877"/>
                  <a:pt x="10046795" y="2452592"/>
                  <a:pt x="10118730" y="2398022"/>
                </a:cubicBezTo>
                <a:cubicBezTo>
                  <a:pt x="10191284" y="2342831"/>
                  <a:pt x="10241513" y="2264696"/>
                  <a:pt x="10269418" y="2163617"/>
                </a:cubicBezTo>
                <a:cubicBezTo>
                  <a:pt x="10285541" y="2104706"/>
                  <a:pt x="10293603" y="2018200"/>
                  <a:pt x="10293603" y="1904098"/>
                </a:cubicBezTo>
                <a:lnTo>
                  <a:pt x="10293603" y="1179491"/>
                </a:lnTo>
                <a:lnTo>
                  <a:pt x="10021061" y="1179491"/>
                </a:lnTo>
                <a:lnTo>
                  <a:pt x="10021061" y="1918051"/>
                </a:lnTo>
                <a:cubicBezTo>
                  <a:pt x="10021061" y="2021610"/>
                  <a:pt x="10010829" y="2096955"/>
                  <a:pt x="9990366" y="2144084"/>
                </a:cubicBezTo>
                <a:cubicBezTo>
                  <a:pt x="9961219" y="2212917"/>
                  <a:pt x="9906339" y="2247333"/>
                  <a:pt x="9825724" y="2247333"/>
                </a:cubicBezTo>
                <a:cubicBezTo>
                  <a:pt x="9751310" y="2247333"/>
                  <a:pt x="9696120" y="2222218"/>
                  <a:pt x="9660153" y="2171989"/>
                </a:cubicBezTo>
                <a:cubicBezTo>
                  <a:pt x="9626667" y="2124240"/>
                  <a:pt x="9609924" y="2039904"/>
                  <a:pt x="9609924" y="1918981"/>
                </a:cubicBezTo>
                <a:lnTo>
                  <a:pt x="9609924" y="1179491"/>
                </a:lnTo>
                <a:lnTo>
                  <a:pt x="9348544" y="1179491"/>
                </a:lnTo>
                <a:close/>
                <a:moveTo>
                  <a:pt x="4652310" y="1178561"/>
                </a:moveTo>
                <a:lnTo>
                  <a:pt x="4376978" y="1179491"/>
                </a:lnTo>
                <a:lnTo>
                  <a:pt x="4376978" y="2449181"/>
                </a:lnTo>
                <a:lnTo>
                  <a:pt x="4638358" y="2449181"/>
                </a:lnTo>
                <a:lnTo>
                  <a:pt x="4638358" y="1633417"/>
                </a:lnTo>
                <a:lnTo>
                  <a:pt x="5039264" y="2449181"/>
                </a:lnTo>
                <a:lnTo>
                  <a:pt x="5311805" y="2449181"/>
                </a:lnTo>
                <a:lnTo>
                  <a:pt x="5311805" y="1179491"/>
                </a:lnTo>
                <a:lnTo>
                  <a:pt x="5050425" y="1179491"/>
                </a:lnTo>
                <a:lnTo>
                  <a:pt x="5050425" y="1996185"/>
                </a:lnTo>
                <a:lnTo>
                  <a:pt x="4652310" y="1178561"/>
                </a:lnTo>
                <a:close/>
                <a:moveTo>
                  <a:pt x="5586653" y="1179491"/>
                </a:moveTo>
                <a:lnTo>
                  <a:pt x="5586653" y="2449181"/>
                </a:lnTo>
                <a:lnTo>
                  <a:pt x="5859195" y="2449181"/>
                </a:lnTo>
                <a:lnTo>
                  <a:pt x="5859195" y="2006417"/>
                </a:lnTo>
                <a:lnTo>
                  <a:pt x="5936399" y="1913400"/>
                </a:lnTo>
                <a:lnTo>
                  <a:pt x="6271263" y="2449181"/>
                </a:lnTo>
                <a:lnTo>
                  <a:pt x="6576360" y="2449181"/>
                </a:lnTo>
                <a:lnTo>
                  <a:pt x="6108482" y="1703180"/>
                </a:lnTo>
                <a:lnTo>
                  <a:pt x="6541014" y="1179491"/>
                </a:lnTo>
                <a:lnTo>
                  <a:pt x="6236846" y="1179491"/>
                </a:lnTo>
                <a:lnTo>
                  <a:pt x="5859195" y="1659462"/>
                </a:lnTo>
                <a:lnTo>
                  <a:pt x="5859195" y="1179491"/>
                </a:lnTo>
                <a:lnTo>
                  <a:pt x="5586653" y="1179491"/>
                </a:lnTo>
                <a:close/>
                <a:moveTo>
                  <a:pt x="6989023" y="1179491"/>
                </a:moveTo>
                <a:lnTo>
                  <a:pt x="7382488" y="1954328"/>
                </a:lnTo>
                <a:lnTo>
                  <a:pt x="7382488" y="2449181"/>
                </a:lnTo>
                <a:lnTo>
                  <a:pt x="7655029" y="2449181"/>
                </a:lnTo>
                <a:lnTo>
                  <a:pt x="7655029" y="1958048"/>
                </a:lnTo>
                <a:lnTo>
                  <a:pt x="8048494" y="1179491"/>
                </a:lnTo>
                <a:lnTo>
                  <a:pt x="7749907" y="1179491"/>
                </a:lnTo>
                <a:lnTo>
                  <a:pt x="7521084" y="1681786"/>
                </a:lnTo>
                <a:lnTo>
                  <a:pt x="7292261" y="1179491"/>
                </a:lnTo>
                <a:lnTo>
                  <a:pt x="6989023" y="1179491"/>
                </a:lnTo>
                <a:close/>
                <a:moveTo>
                  <a:pt x="994822" y="1179491"/>
                </a:moveTo>
                <a:lnTo>
                  <a:pt x="994822" y="1412035"/>
                </a:lnTo>
                <a:lnTo>
                  <a:pt x="1302710" y="1412035"/>
                </a:lnTo>
                <a:lnTo>
                  <a:pt x="1302710" y="2449181"/>
                </a:lnTo>
                <a:lnTo>
                  <a:pt x="1575252" y="2449181"/>
                </a:lnTo>
                <a:lnTo>
                  <a:pt x="1575252" y="1412035"/>
                </a:lnTo>
                <a:lnTo>
                  <a:pt x="1885000" y="1412035"/>
                </a:lnTo>
                <a:lnTo>
                  <a:pt x="1885000" y="1179491"/>
                </a:lnTo>
                <a:lnTo>
                  <a:pt x="994822" y="1179491"/>
                </a:lnTo>
                <a:close/>
                <a:moveTo>
                  <a:pt x="2052878" y="1179491"/>
                </a:moveTo>
                <a:lnTo>
                  <a:pt x="2052878" y="2449181"/>
                </a:lnTo>
                <a:lnTo>
                  <a:pt x="2325420" y="2449181"/>
                </a:lnTo>
                <a:lnTo>
                  <a:pt x="2325420" y="1894796"/>
                </a:lnTo>
                <a:lnTo>
                  <a:pt x="2730046" y="1894796"/>
                </a:lnTo>
                <a:lnTo>
                  <a:pt x="2730046" y="2449181"/>
                </a:lnTo>
                <a:lnTo>
                  <a:pt x="3002588" y="2449181"/>
                </a:lnTo>
                <a:lnTo>
                  <a:pt x="3002588" y="1179491"/>
                </a:lnTo>
                <a:lnTo>
                  <a:pt x="2730046" y="1179491"/>
                </a:lnTo>
                <a:lnTo>
                  <a:pt x="2730046" y="1662252"/>
                </a:lnTo>
                <a:lnTo>
                  <a:pt x="2325420" y="1662252"/>
                </a:lnTo>
                <a:lnTo>
                  <a:pt x="2325420" y="1179491"/>
                </a:lnTo>
                <a:lnTo>
                  <a:pt x="2052878" y="1179491"/>
                </a:lnTo>
                <a:close/>
                <a:moveTo>
                  <a:pt x="3553215" y="1179491"/>
                </a:moveTo>
                <a:lnTo>
                  <a:pt x="3150449" y="2449181"/>
                </a:lnTo>
                <a:lnTo>
                  <a:pt x="3429501" y="2449181"/>
                </a:lnTo>
                <a:lnTo>
                  <a:pt x="3509496" y="2165478"/>
                </a:lnTo>
                <a:lnTo>
                  <a:pt x="3871335" y="2165478"/>
                </a:lnTo>
                <a:lnTo>
                  <a:pt x="3950400" y="2449181"/>
                </a:lnTo>
                <a:lnTo>
                  <a:pt x="4234103" y="2449181"/>
                </a:lnTo>
                <a:lnTo>
                  <a:pt x="3832267" y="1179491"/>
                </a:lnTo>
                <a:lnTo>
                  <a:pt x="3553215" y="1179491"/>
                </a:lnTo>
                <a:close/>
              </a:path>
            </a:pathLst>
          </a:cu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29F3B183-EC9F-41D9-D53A-CF467BED1C3C}"/>
              </a:ext>
            </a:extLst>
          </p:cNvPr>
          <p:cNvSpPr txBox="1">
            <a:spLocks/>
          </p:cNvSpPr>
          <p:nvPr/>
        </p:nvSpPr>
        <p:spPr bwMode="gray">
          <a:xfrm>
            <a:off x="1371600" y="3813690"/>
            <a:ext cx="5565300" cy="824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457322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defRPr lang="de-DE" sz="3200" kern="1200">
                <a:solidFill>
                  <a:schemeClr val="tx2"/>
                </a:solidFill>
                <a:latin typeface="TeleGrotesk Headline Ultra" pitchFamily="2" charset="0"/>
                <a:ea typeface="+mj-ea"/>
                <a:cs typeface="TeleGrotesk Headline Ultra" pitchFamily="2" charset="0"/>
              </a:defRPr>
            </a:lvl1pPr>
            <a:lvl2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2pPr>
            <a:lvl3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3pPr>
            <a:lvl4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4pPr>
            <a:lvl5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5pPr>
            <a:lvl6pPr marL="457171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6pPr>
            <a:lvl7pPr marL="914342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7pPr>
            <a:lvl8pPr marL="137151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8pPr>
            <a:lvl9pPr marL="182868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9pPr>
          </a:lstStyle>
          <a:p>
            <a:r>
              <a:rPr lang="en-US" sz="4656" b="1" dirty="0">
                <a:solidFill>
                  <a:schemeClr val="bg1"/>
                </a:solidFill>
                <a:latin typeface="+mj-lt"/>
                <a:ea typeface="TeleGrotesk Next" pitchFamily="2" charset="0"/>
                <a:cs typeface="TeleGrotesk Next" pitchFamily="2" charset="0"/>
              </a:rPr>
              <a:t>Let’s accomplish</a:t>
            </a:r>
            <a:endParaRPr lang="en-US" sz="9311" b="1" dirty="0">
              <a:solidFill>
                <a:schemeClr val="bg1"/>
              </a:solidFill>
              <a:latin typeface="+mj-lt"/>
              <a:ea typeface="TeleGrotesk Next" pitchFamily="2" charset="0"/>
              <a:cs typeface="TeleGrotesk Next" pitchFamily="2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5E21913-D02A-46B6-4274-2A64F081CEFB}"/>
              </a:ext>
            </a:extLst>
          </p:cNvPr>
          <p:cNvSpPr txBox="1">
            <a:spLocks/>
          </p:cNvSpPr>
          <p:nvPr/>
        </p:nvSpPr>
        <p:spPr bwMode="gray">
          <a:xfrm>
            <a:off x="1371600" y="4683362"/>
            <a:ext cx="7740141" cy="824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457322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defRPr lang="de-DE" sz="3200" kern="1200">
                <a:solidFill>
                  <a:schemeClr val="tx2"/>
                </a:solidFill>
                <a:latin typeface="TeleGrotesk Headline Ultra" pitchFamily="2" charset="0"/>
                <a:ea typeface="+mj-ea"/>
                <a:cs typeface="TeleGrotesk Headline Ultra" pitchFamily="2" charset="0"/>
              </a:defRPr>
            </a:lvl1pPr>
            <a:lvl2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2pPr>
            <a:lvl3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3pPr>
            <a:lvl4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4pPr>
            <a:lvl5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5pPr>
            <a:lvl6pPr marL="457171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6pPr>
            <a:lvl7pPr marL="914342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7pPr>
            <a:lvl8pPr marL="137151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8pPr>
            <a:lvl9pPr marL="182868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9pPr>
          </a:lstStyle>
          <a:p>
            <a:r>
              <a:rPr lang="en-US" sz="4656" b="1" dirty="0">
                <a:solidFill>
                  <a:schemeClr val="bg1"/>
                </a:solidFill>
                <a:latin typeface="+mj-lt"/>
                <a:ea typeface="TeleGrotesk Next" pitchFamily="2" charset="0"/>
                <a:cs typeface="TeleGrotesk Next" pitchFamily="2" charset="0"/>
              </a:rPr>
              <a:t>our mission </a:t>
            </a:r>
            <a:r>
              <a:rPr lang="en-US" sz="6349" b="1" dirty="0">
                <a:solidFill>
                  <a:schemeClr val="bg1"/>
                </a:solidFill>
                <a:latin typeface="+mj-lt"/>
                <a:ea typeface="TeleGrotesk Next" pitchFamily="2" charset="0"/>
                <a:cs typeface="TeleGrotesk Next" pitchFamily="2" charset="0"/>
              </a:rPr>
              <a:t>together!</a:t>
            </a:r>
            <a:endParaRPr lang="en-US" sz="9311" b="1" dirty="0">
              <a:solidFill>
                <a:schemeClr val="bg1"/>
              </a:solidFill>
              <a:latin typeface="+mj-lt"/>
              <a:ea typeface="TeleGrotesk Next" pitchFamily="2" charset="0"/>
              <a:cs typeface="TeleGrotesk N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6788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KrgRiJ9idVZnx94_oPi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KrgRiJ9idVZnx94_oPi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</Words>
  <Application>Microsoft Office PowerPoint</Application>
  <PresentationFormat>Widescreen</PresentationFormat>
  <Paragraphs>184</Paragraphs>
  <Slides>18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Arial Unicode MS</vt:lpstr>
      <vt:lpstr>STKaiti</vt:lpstr>
      <vt:lpstr>Aptos</vt:lpstr>
      <vt:lpstr>Arial</vt:lpstr>
      <vt:lpstr>Calbri</vt:lpstr>
      <vt:lpstr>Calibri</vt:lpstr>
      <vt:lpstr>Calibri Light</vt:lpstr>
      <vt:lpstr>Segoe UI</vt:lpstr>
      <vt:lpstr>TeleGrotesk Next</vt:lpstr>
      <vt:lpstr>TeleGrotesk Next Ultra</vt:lpstr>
      <vt:lpstr>TeleNeo Office ExtraBold</vt:lpstr>
      <vt:lpstr>TeleNeo Office ExtraBold (Headings)</vt:lpstr>
      <vt:lpstr>Wingdings</vt:lpstr>
      <vt:lpstr>Office Theme</vt:lpstr>
      <vt:lpstr>think-cell Folie</vt:lpstr>
      <vt:lpstr>D365 CAPABILITIES</vt:lpstr>
      <vt:lpstr>PowerPoint Presentation</vt:lpstr>
      <vt:lpstr>PowerPoint Presentation</vt:lpstr>
      <vt:lpstr>PowerPoint Presentation</vt:lpstr>
      <vt:lpstr>Case Studies on D365</vt:lpstr>
      <vt:lpstr>Salesforce &amp; D365 365 Integration </vt:lpstr>
      <vt:lpstr>Salesforce &amp; Dynamics 365 Integration for a Global Retail Company</vt:lpstr>
      <vt:lpstr>Salesforce &amp; Dynamics 365 Integration for a Global Retail Company</vt:lpstr>
      <vt:lpstr>Salesforce &amp; Dynamics 365 Integration for a Global Retail Company</vt:lpstr>
      <vt:lpstr>Analysis for Intelligence customer management</vt:lpstr>
      <vt:lpstr>Analysis for Intelligence Customer Management with D365</vt:lpstr>
      <vt:lpstr>Analysis for Intelligence Customer Management with D365</vt:lpstr>
      <vt:lpstr>Analysis for Intelligence Customer Management with D365</vt:lpstr>
      <vt:lpstr>Integration of Microsoft Dynamics 365 with ServiceNow </vt:lpstr>
      <vt:lpstr>Integration of Microsoft Dynamics 365 with ServiceNow </vt:lpstr>
      <vt:lpstr>Analysis for Intelligence Customer Management with D365</vt:lpstr>
      <vt:lpstr>Analysis for Intelligence Customer Management with D365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D365 Implementations  &amp; Integrations showcase</dc:title>
  <dc:creator>VEMAPALLI, LOKESH</dc:creator>
  <cp:lastModifiedBy>VEMAPALLI, LOKESH</cp:lastModifiedBy>
  <cp:revision>3</cp:revision>
  <dcterms:created xsi:type="dcterms:W3CDTF">2022-04-01T18:07:35Z</dcterms:created>
  <dcterms:modified xsi:type="dcterms:W3CDTF">2026-07-29T09:15:59Z</dcterms:modified>
</cp:coreProperties>
</file>