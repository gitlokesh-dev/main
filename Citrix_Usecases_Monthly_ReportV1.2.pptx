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9" r:id="rId3"/>
    <p:sldId id="271" r:id="rId4"/>
    <p:sldId id="272" r:id="rId5"/>
    <p:sldId id="274" r:id="rId6"/>
    <p:sldId id="267" r:id="rId7"/>
    <p:sldId id="266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0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72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72224-E79C-798C-BA1D-F9D0CE3C0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97DE2-E87F-8A34-E238-AD8F9620D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7F581-A473-B8F7-81B1-B315B42D6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25C6D-1244-E71B-760A-18896CC22D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4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56D77-F3C9-9ED9-85DD-554B7095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43364-70D8-7121-8271-BF470EE14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1E70C-4AF6-AA84-EFD3-0D98E768C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E2463-1FB3-A3B5-D6D7-55716E67CC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1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7DEB2-8C57-5EE2-5A96-73B803C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E018B9-860D-23CB-4A88-20475A497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9F0AB-C4BB-C2B3-918D-6237BF8E8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9E378-1378-8109-7181-3A56A469E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C426-D9FF-A3A5-67DA-3D95493AC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6FFF2-3087-F12E-69C4-EE2A00D99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B69A9-233A-6EEA-989F-46EBA318B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73EC3-917D-6C3A-B0D6-AD80134573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1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49D1C-6E50-EF30-D804-5AAC9368A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5D0D6-4220-5D21-75A5-DEB32E4F2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10FAA-94CD-2066-45B7-A703A31CF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F5AC4-4945-646C-4928-A0EE4630F9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88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0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40080" y="457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chemeClr val="bg1"/>
                </a:solidFill>
              </a:rPr>
              <a:t>CITRIX INTELLIGENT OPERATIONS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Automation Use Cases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 Report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Delivered Under the Citrix Intelligent Operations Plan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4444538" cy="45720"/>
          </a:xfrm>
          <a:prstGeom prst="rect">
            <a:avLst/>
          </a:prstGeom>
          <a:solidFill>
            <a:srgbClr val="FF2D8A"/>
          </a:solidFill>
          <a:ln w="12700">
            <a:solidFill>
              <a:srgbClr val="FF2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0" y="48691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chemeClr val="bg1"/>
                </a:solidFill>
              </a:rPr>
              <a:t>July 2026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4A358-D292-E654-86C5-73505725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DB95DD-D8FE-E0E4-CD5B-572EE42E3EE4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80074"/>
          </a:solidFill>
          <a:ln w="12700">
            <a:solidFill>
              <a:srgbClr val="D800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B3805E-4E04-3DCB-C440-8085B0532CBC}"/>
              </a:ext>
            </a:extLst>
          </p:cNvPr>
          <p:cNvSpPr/>
          <p:nvPr/>
        </p:nvSpPr>
        <p:spPr>
          <a:xfrm>
            <a:off x="365760" y="320040"/>
            <a:ext cx="8229600" cy="518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Usecases – Current usage</a:t>
            </a:r>
            <a:endParaRPr lang="en-US" sz="3400" dirty="0">
              <a:solidFill>
                <a:srgbClr val="D80074"/>
              </a:solidFill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7FB1DDB-B940-022F-F454-E858415A1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15013"/>
              </p:ext>
            </p:extLst>
          </p:nvPr>
        </p:nvGraphicFramePr>
        <p:xfrm>
          <a:off x="457200" y="816122"/>
          <a:ext cx="8229600" cy="27086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444">
                  <a:extLst>
                    <a:ext uri="{9D8B030D-6E8A-4147-A177-3AD203B41FA5}">
                      <a16:colId xmlns:a16="http://schemas.microsoft.com/office/drawing/2014/main" val="2135278320"/>
                    </a:ext>
                  </a:extLst>
                </a:gridCol>
                <a:gridCol w="1710787">
                  <a:extLst>
                    <a:ext uri="{9D8B030D-6E8A-4147-A177-3AD203B41FA5}">
                      <a16:colId xmlns:a16="http://schemas.microsoft.com/office/drawing/2014/main" val="428993646"/>
                    </a:ext>
                  </a:extLst>
                </a:gridCol>
                <a:gridCol w="2510369">
                  <a:extLst>
                    <a:ext uri="{9D8B030D-6E8A-4147-A177-3AD203B41FA5}">
                      <a16:colId xmlns:a16="http://schemas.microsoft.com/office/drawing/2014/main" val="19310108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28243363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2027617514"/>
                    </a:ext>
                  </a:extLst>
                </a:gridCol>
              </a:tblGrid>
              <a:tr h="2615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5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  <a:endParaRPr lang="en-IN" sz="5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Usecase Name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Automation Description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Usage in July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Status/Comments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304637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800" b="1" u="none" strike="noStrike" dirty="0">
                          <a:effectLst/>
                        </a:rPr>
                        <a:t>1</a:t>
                      </a:r>
                      <a:endParaRPr lang="en-IN" sz="800" b="1" i="0" u="none" strike="noStrike" dirty="0">
                        <a:solidFill>
                          <a:srgbClr val="1F4E8C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800" u="none" strike="noStrike" dirty="0">
                          <a:effectLst/>
                        </a:rPr>
                        <a:t>SOC1/2 &amp; ISAE 3402 Audit Automation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Automates secure extraction and formatting of audit compliance data, ensuring instant availability for audits without manual intervention.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/>
                </a:tc>
                <a:tc>
                  <a:txBody>
                    <a:bodyPr/>
                    <a:lstStyle/>
                    <a:p>
                      <a:pPr marL="0" lvl="0" indent="0" algn="l" defTabSz="914400" rtl="0" eaLnBrk="1" fontAlgn="ctr" latinLnBrk="0" hangingPunct="1">
                        <a:buFontTx/>
                        <a:buNone/>
                      </a:pP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  This automation will be utilized in the next audit starting  </a:t>
                      </a:r>
                      <a:b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    September.    </a:t>
                      </a:r>
                    </a:p>
                  </a:txBody>
                  <a:tcPr marL="4299" marR="4299" marT="4299" marB="0" anchor="ctr"/>
                </a:tc>
                <a:extLst>
                  <a:ext uri="{0D108BD9-81ED-4DB2-BD59-A6C34878D82A}">
                    <a16:rowId xmlns:a16="http://schemas.microsoft.com/office/drawing/2014/main" val="1034917392"/>
                  </a:ext>
                </a:extLst>
              </a:tr>
              <a:tr h="54603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800" b="1" u="none" strike="noStrike" dirty="0">
                          <a:effectLst/>
                        </a:rPr>
                        <a:t>2</a:t>
                      </a:r>
                      <a:endParaRPr lang="en-IN" sz="800" b="1" i="0" u="none" strike="noStrike" dirty="0">
                        <a:solidFill>
                          <a:srgbClr val="1F4E8C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800" u="none" strike="noStrike" dirty="0">
                          <a:effectLst/>
                        </a:rPr>
                        <a:t>Citrix Service Management</a:t>
                      </a:r>
                    </a:p>
                    <a:p>
                      <a:pPr algn="l" fontAlgn="t">
                        <a:buNone/>
                      </a:pPr>
                      <a:r>
                        <a:rPr lang="en-IN" sz="800" u="none" strike="noStrike" dirty="0">
                          <a:effectLst/>
                        </a:rPr>
                        <a:t>Automation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Automation to manage (Status, Restart, Force Restart, Stop) Citrix services on demand.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NA</a:t>
                      </a:r>
                    </a:p>
                  </a:txBody>
                  <a:tcPr marL="4299" marR="4299" marT="4299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OPS Team has requested enhancements to service restart handling.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of added operational value is ongoing</a:t>
                      </a:r>
                      <a:r>
                        <a:rPr lang="en-US" sz="800" b="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IN" sz="1100" b="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2939844"/>
                  </a:ext>
                </a:extLst>
              </a:tr>
              <a:tr h="34795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800" b="1" u="none" strike="noStrike" dirty="0">
                          <a:effectLst/>
                        </a:rPr>
                        <a:t>3</a:t>
                      </a:r>
                      <a:endParaRPr lang="en-IN" sz="800" b="1" i="0" u="none" strike="noStrike" dirty="0">
                        <a:solidFill>
                          <a:srgbClr val="1F4E8C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800" u="none" strike="noStrike" dirty="0">
                          <a:effectLst/>
                        </a:rPr>
                        <a:t>Automatic C: Drive Cleanup(TSI-Automation Framework)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Proactively monitors and cleans C: drive storage to optimize performance, reduce disk space issues, and prevent timeout errors.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4299" marR="4299" marT="4299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new version of the script its onboarded to atomic and its. Expected to reduce timeouts and improve Performance.</a:t>
                      </a:r>
                      <a:b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report  added in next slide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endParaRPr lang="en-US" sz="800" b="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9036411"/>
                  </a:ext>
                </a:extLst>
              </a:tr>
              <a:tr h="4944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1F4E8C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IN" sz="800" b="1" i="0" u="none" strike="noStrike" dirty="0">
                        <a:solidFill>
                          <a:srgbClr val="1F4E8C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Automate RDS License reporting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Ensure compliance, avoid financial penalties, support audit readiness, and improve license forecasting.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4299" marR="4299" marT="4299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Currently is onboarded to Prod 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In august  usage report it will be generated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6052602"/>
                  </a:ext>
                </a:extLst>
              </a:tr>
              <a:tr h="4944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1F4E8C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800" b="1" i="0" u="none" strike="noStrike" dirty="0">
                        <a:solidFill>
                          <a:srgbClr val="1F4E8C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Automate VC Lite - Monthly Billing Report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dirty="0"/>
                        <a:t>Optimize and strengthen the billing process, ensure transparency, reduce manual effort, and improve cost control.</a:t>
                      </a:r>
                      <a:endParaRPr lang="en-US" sz="800" u="none" strike="noStrike" dirty="0">
                        <a:effectLst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299" marR="4299" marT="4299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Currently is onboarded to Prod 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In august  usage report it will be generated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4299" marR="4299" marT="4299" marB="0"/>
                </a:tc>
                <a:extLst>
                  <a:ext uri="{0D108BD9-81ED-4DB2-BD59-A6C34878D82A}">
                    <a16:rowId xmlns:a16="http://schemas.microsoft.com/office/drawing/2014/main" val="2103288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97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007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E7847D-122C-6961-1868-6C2BC7FC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0069C0CB-A088-5D89-5CDA-061ECAB81AD6}"/>
              </a:ext>
            </a:extLst>
          </p:cNvPr>
          <p:cNvSpPr/>
          <p:nvPr/>
        </p:nvSpPr>
        <p:spPr>
          <a:xfrm>
            <a:off x="640080" y="10058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Use cases</a:t>
            </a:r>
            <a:endParaRPr lang="en-US" sz="4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8DAD532-8F1A-C757-7A27-D07B36E7D9FF}"/>
              </a:ext>
            </a:extLst>
          </p:cNvPr>
          <p:cNvSpPr/>
          <p:nvPr/>
        </p:nvSpPr>
        <p:spPr>
          <a:xfrm>
            <a:off x="715707" y="2089370"/>
            <a:ext cx="4444538" cy="45720"/>
          </a:xfrm>
          <a:prstGeom prst="rect">
            <a:avLst/>
          </a:prstGeom>
          <a:solidFill>
            <a:srgbClr val="FF2D8A"/>
          </a:solidFill>
          <a:ln w="12700">
            <a:solidFill>
              <a:srgbClr val="FF2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32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CCD90-27F4-7AA1-6763-4D7CF93E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3EAB02-2C9C-6BA1-B73C-F17D99A43988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80074"/>
          </a:solidFill>
          <a:ln w="12700">
            <a:solidFill>
              <a:srgbClr val="D800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EE01FB-6F46-69C3-6AEE-46A5280DCE74}"/>
              </a:ext>
            </a:extLst>
          </p:cNvPr>
          <p:cNvSpPr/>
          <p:nvPr/>
        </p:nvSpPr>
        <p:spPr>
          <a:xfrm>
            <a:off x="364375" y="19594"/>
            <a:ext cx="8229600" cy="532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“Completed” Usecases</a:t>
            </a:r>
            <a:endParaRPr lang="en-US" sz="3400" dirty="0">
              <a:solidFill>
                <a:srgbClr val="D80074"/>
              </a:solidFill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0189203-CFF0-8190-2E59-86856811F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520659"/>
              </p:ext>
            </p:extLst>
          </p:nvPr>
        </p:nvGraphicFramePr>
        <p:xfrm>
          <a:off x="407318" y="552077"/>
          <a:ext cx="8337740" cy="24778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859">
                  <a:extLst>
                    <a:ext uri="{9D8B030D-6E8A-4147-A177-3AD203B41FA5}">
                      <a16:colId xmlns:a16="http://schemas.microsoft.com/office/drawing/2014/main" val="2135278320"/>
                    </a:ext>
                  </a:extLst>
                </a:gridCol>
                <a:gridCol w="713831">
                  <a:extLst>
                    <a:ext uri="{9D8B030D-6E8A-4147-A177-3AD203B41FA5}">
                      <a16:colId xmlns:a16="http://schemas.microsoft.com/office/drawing/2014/main" val="428993646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4192489611"/>
                    </a:ext>
                  </a:extLst>
                </a:gridCol>
                <a:gridCol w="1809206">
                  <a:extLst>
                    <a:ext uri="{9D8B030D-6E8A-4147-A177-3AD203B41FA5}">
                      <a16:colId xmlns:a16="http://schemas.microsoft.com/office/drawing/2014/main" val="1931010803"/>
                    </a:ext>
                  </a:extLst>
                </a:gridCol>
                <a:gridCol w="2155371">
                  <a:extLst>
                    <a:ext uri="{9D8B030D-6E8A-4147-A177-3AD203B41FA5}">
                      <a16:colId xmlns:a16="http://schemas.microsoft.com/office/drawing/2014/main" val="792614815"/>
                    </a:ext>
                  </a:extLst>
                </a:gridCol>
                <a:gridCol w="600892">
                  <a:extLst>
                    <a:ext uri="{9D8B030D-6E8A-4147-A177-3AD203B41FA5}">
                      <a16:colId xmlns:a16="http://schemas.microsoft.com/office/drawing/2014/main" val="386768526"/>
                    </a:ext>
                  </a:extLst>
                </a:gridCol>
                <a:gridCol w="1447547">
                  <a:extLst>
                    <a:ext uri="{9D8B030D-6E8A-4147-A177-3AD203B41FA5}">
                      <a16:colId xmlns:a16="http://schemas.microsoft.com/office/drawing/2014/main" val="1128243363"/>
                    </a:ext>
                  </a:extLst>
                </a:gridCol>
              </a:tblGrid>
              <a:tr h="297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Usecase Name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r>
                        <a:rPr lang="en-I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bjective</a:t>
                      </a: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Automation Description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Value &amp; Benefits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ETA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Status/Comments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ctr">
                        <a:buNone/>
                      </a:pP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304637"/>
                  </a:ext>
                </a:extLst>
              </a:tr>
              <a:tr h="21808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1</a:t>
                      </a:r>
                      <a:endParaRPr lang="en-IN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SSL Certificate Lifecycle</a:t>
                      </a:r>
                      <a:endParaRPr lang="en-IN" sz="7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Ensure secure connectivity, maintain compliance, protect business continuity, and reduce risk of outages.</a:t>
                      </a:r>
                      <a:endParaRPr lang="en-IN" sz="7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7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Automates SSL certificate issuance, renewal, and deployment across Citrix infrastructure.</a:t>
                      </a:r>
                      <a:endParaRPr lang="en-IN" sz="7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7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1. Prevents outages due to expired certificates. </a:t>
                      </a:r>
                      <a:br>
                        <a:rPr lang="en-IN" sz="7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7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2. Ensures continuous secure connectivity. </a:t>
                      </a:r>
                      <a:br>
                        <a:rPr lang="en-IN" sz="7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7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3. Maintains compliance with industry standards. </a:t>
                      </a:r>
                      <a:br>
                        <a:rPr lang="en-IN" sz="7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7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4. Reduces manual certificate management workload.</a:t>
                      </a:r>
                      <a:endParaRPr lang="en-IN" sz="7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31.07.2026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UAT in progress 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Camunda team integrate script into PROD Env-In progress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4917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392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007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E8DAB-AAA2-D11F-37E3-88EF9FCF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3DA077BF-1836-64AB-F8A6-08ABF1AF22B9}"/>
              </a:ext>
            </a:extLst>
          </p:cNvPr>
          <p:cNvSpPr/>
          <p:nvPr/>
        </p:nvSpPr>
        <p:spPr>
          <a:xfrm>
            <a:off x="640080" y="10058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Use cases</a:t>
            </a:r>
            <a:endParaRPr lang="en-US" sz="4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1DCF7A0-3E21-2C66-E44C-814D549D9495}"/>
              </a:ext>
            </a:extLst>
          </p:cNvPr>
          <p:cNvSpPr/>
          <p:nvPr/>
        </p:nvSpPr>
        <p:spPr>
          <a:xfrm>
            <a:off x="715707" y="2089370"/>
            <a:ext cx="4444538" cy="45720"/>
          </a:xfrm>
          <a:prstGeom prst="rect">
            <a:avLst/>
          </a:prstGeom>
          <a:solidFill>
            <a:srgbClr val="FF2D8A"/>
          </a:solidFill>
          <a:ln w="12700">
            <a:solidFill>
              <a:srgbClr val="FF2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607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33930-E2C5-CDEB-1D22-DCBB6186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D0B609-6C08-500C-6B49-BC164117F5E2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80074"/>
          </a:solidFill>
          <a:ln w="12700">
            <a:solidFill>
              <a:srgbClr val="D800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5E04BD-D27F-B9C0-0F21-0FFC4F3DE6A3}"/>
              </a:ext>
            </a:extLst>
          </p:cNvPr>
          <p:cNvSpPr/>
          <p:nvPr/>
        </p:nvSpPr>
        <p:spPr>
          <a:xfrm>
            <a:off x="365760" y="320040"/>
            <a:ext cx="8229600" cy="498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Backlog Usecases</a:t>
            </a:r>
            <a:endParaRPr lang="en-US" sz="3400" dirty="0">
              <a:solidFill>
                <a:srgbClr val="D80074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C308D4-E423-E7A6-5439-591257F7A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929715"/>
              </p:ext>
            </p:extLst>
          </p:nvPr>
        </p:nvGraphicFramePr>
        <p:xfrm>
          <a:off x="705394" y="960122"/>
          <a:ext cx="7816036" cy="41177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220">
                  <a:extLst>
                    <a:ext uri="{9D8B030D-6E8A-4147-A177-3AD203B41FA5}">
                      <a16:colId xmlns:a16="http://schemas.microsoft.com/office/drawing/2014/main" val="3503748073"/>
                    </a:ext>
                  </a:extLst>
                </a:gridCol>
                <a:gridCol w="2152028">
                  <a:extLst>
                    <a:ext uri="{9D8B030D-6E8A-4147-A177-3AD203B41FA5}">
                      <a16:colId xmlns:a16="http://schemas.microsoft.com/office/drawing/2014/main" val="2172715008"/>
                    </a:ext>
                  </a:extLst>
                </a:gridCol>
                <a:gridCol w="2411848">
                  <a:extLst>
                    <a:ext uri="{9D8B030D-6E8A-4147-A177-3AD203B41FA5}">
                      <a16:colId xmlns:a16="http://schemas.microsoft.com/office/drawing/2014/main" val="2129033220"/>
                    </a:ext>
                  </a:extLst>
                </a:gridCol>
                <a:gridCol w="810873">
                  <a:extLst>
                    <a:ext uri="{9D8B030D-6E8A-4147-A177-3AD203B41FA5}">
                      <a16:colId xmlns:a16="http://schemas.microsoft.com/office/drawing/2014/main" val="2086605906"/>
                    </a:ext>
                  </a:extLst>
                </a:gridCol>
                <a:gridCol w="554373">
                  <a:extLst>
                    <a:ext uri="{9D8B030D-6E8A-4147-A177-3AD203B41FA5}">
                      <a16:colId xmlns:a16="http://schemas.microsoft.com/office/drawing/2014/main" val="3748133848"/>
                    </a:ext>
                  </a:extLst>
                </a:gridCol>
                <a:gridCol w="1351694">
                  <a:extLst>
                    <a:ext uri="{9D8B030D-6E8A-4147-A177-3AD203B41FA5}">
                      <a16:colId xmlns:a16="http://schemas.microsoft.com/office/drawing/2014/main" val="3924835222"/>
                    </a:ext>
                  </a:extLst>
                </a:gridCol>
              </a:tblGrid>
              <a:tr h="2351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S.No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Usecase Name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Objective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ETA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Comments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288642"/>
                  </a:ext>
                </a:extLst>
              </a:tr>
              <a:tr h="2306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VCLiteImage Patching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Maintain system reliability, reduce vulnerabilities, ensure smooth user experience, and minimize downtime.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3750916398"/>
                  </a:ext>
                </a:extLst>
              </a:tr>
              <a:tr h="2306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Automated Profile Refresh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Enhance user experience, reduce login issues, and improve application stability.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1024036973"/>
                  </a:ext>
                </a:extLst>
              </a:tr>
              <a:tr h="2306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Automate the Layer transfer between Regions</a:t>
                      </a:r>
                      <a:b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Ensure resilience, enable disaster recovery, and reduce risk of service disruption.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2137282196"/>
                  </a:ext>
                </a:extLst>
              </a:tr>
              <a:tr h="28722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Automate weekly user log review to detect if GPO is applied.</a:t>
                      </a:r>
                      <a:b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Enforce policies, detect issues early, and strengthen audit readiness.</a:t>
                      </a:r>
                      <a:b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2279254829"/>
                  </a:ext>
                </a:extLst>
              </a:tr>
              <a:tr h="28722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Automatic Cleanup Application Drives (D &amp; E)</a:t>
                      </a:r>
                      <a:b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Free up storage, prevent incidents and related service impact due to full drives, and maintain desktop performance.</a:t>
                      </a:r>
                      <a:b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3850838107"/>
                  </a:ext>
                </a:extLst>
              </a:tr>
              <a:tr h="25359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CPU Utilization Monitoring Request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Improve performance, prevent bottlenecks, and support scaling.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1209026161"/>
                  </a:ext>
                </a:extLst>
              </a:tr>
              <a:tr h="28722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Assess feasibility of user-triggered profile reset automation </a:t>
                      </a:r>
                      <a:b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User can reset profile Ad-Hoc and at any moment.</a:t>
                      </a:r>
                      <a:b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2784443577"/>
                  </a:ext>
                </a:extLst>
              </a:tr>
              <a:tr h="2306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Citrix-Application onboarding automation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Accelerate application delivery, reduce manual effort, improve consistency, and enhance agility for business needs.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2525973190"/>
                  </a:ext>
                </a:extLst>
              </a:tr>
              <a:tr h="2306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Desktop publishing automation (for VC desktop)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Increase operational efficiency, reduce turnaround time, improve agility, and support faster user onboarding.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3991612005"/>
                  </a:ext>
                </a:extLst>
              </a:tr>
              <a:tr h="2306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Studio Policy automation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Standardize governance, improve compliance, reduce configuration errors, and ensure policy consistency.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4019692784"/>
                  </a:ext>
                </a:extLst>
              </a:tr>
              <a:tr h="2306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Upgrades of the VC Desktops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Keep systems current, enhance user experience, reduce downtime, and support long-term scalability.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3320109867"/>
                  </a:ext>
                </a:extLst>
              </a:tr>
              <a:tr h="2306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 List for Patching and Monitoring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Ensure patch compliance, improve visibility, and reduce vulnerabilities across environments.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2327734721"/>
                  </a:ext>
                </a:extLst>
              </a:tr>
              <a:tr h="2306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Unused VDI  Deletion (last 3 months)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 resource utilization, reduce costs, and improve operational efficiency.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3530050148"/>
                  </a:ext>
                </a:extLst>
              </a:tr>
              <a:tr h="2306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Daily Checklist in Panorama and Palo Alto Firewall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Strengthen security posture, ensure compliance, and reduce risk of outages.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3319957330"/>
                  </a:ext>
                </a:extLst>
              </a:tr>
              <a:tr h="2306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Citrix DR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Ensure business continuity, minimize downtime, and strengthen resilience.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Planned for  this year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2944895159"/>
                  </a:ext>
                </a:extLst>
              </a:tr>
              <a:tr h="2306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Cutomer  Testing  --&gt;Multiple applications.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Improve quality assurance, reduce defects, and enhance customer satisfaction.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This is a commercial topic</a:t>
                      </a:r>
                    </a:p>
                    <a:p>
                      <a:pPr algn="l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4128905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451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0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CCE8"/>
                </a:solidFill>
              </a:rPr>
              <a:t>Citrix Intelligent Operations Automation Program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rgbClr val="FF2D8A"/>
          </a:solidFill>
          <a:ln w="12700">
            <a:solidFill>
              <a:srgbClr val="FF2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Microsoft Office PowerPoint</Application>
  <PresentationFormat>On-screen Show (16:9)</PresentationFormat>
  <Paragraphs>169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Narrow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Citrix Intelligent Operations – Automation Use Cases</dc:title>
  <dc:subject>PptxGenJS Presentation</dc:subject>
  <dc:creator>PptxGenJS</dc:creator>
  <cp:lastModifiedBy>VEMAPALLI, LOKESH</cp:lastModifiedBy>
  <cp:revision>64</cp:revision>
  <dcterms:created xsi:type="dcterms:W3CDTF">2026-04-29T03:06:58Z</dcterms:created>
  <dcterms:modified xsi:type="dcterms:W3CDTF">2026-07-28T01:55:45Z</dcterms:modified>
</cp:coreProperties>
</file>