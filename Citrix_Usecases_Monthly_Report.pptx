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9" r:id="rId3"/>
    <p:sldId id="271" r:id="rId4"/>
    <p:sldId id="272" r:id="rId5"/>
    <p:sldId id="273" r:id="rId6"/>
    <p:sldId id="268" r:id="rId7"/>
    <p:sldId id="274" r:id="rId8"/>
    <p:sldId id="267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00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3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721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72224-E79C-798C-BA1D-F9D0CE3C0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497DE2-E87F-8A34-E238-AD8F9620D0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77F581-A473-B8F7-81B1-B315B42D6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25C6D-1244-E71B-760A-18896CC22D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74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56D77-F3C9-9ED9-85DD-554B7095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D43364-70D8-7121-8271-BF470EE14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41E70C-4AF6-AA84-EFD3-0D98E768C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E2463-1FB3-A3B5-D6D7-55716E67CC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1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7DEB2-8C57-5EE2-5A96-73B803C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E018B9-860D-23CB-4A88-20475A497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9F0AB-C4BB-C2B3-918D-6237BF8E8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9E378-1378-8109-7181-3A56A469E4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AD200-9401-1CE1-33A3-0DABBADFF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31D3FB-AB99-348D-50AD-582D41484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66D3F2-ECE4-834E-C543-7BF135D21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C8E03-1CAD-5E5D-79AD-B84F4492E5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3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6EEEE-548A-8C57-F08D-4409A916C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063F1-C1F2-B0B8-DED4-EB74BBB6A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76F98-84EC-EE7E-7E03-A6764332E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1C3D4-D2E6-27A5-039A-8E9B38E09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9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1C426-D9FF-A3A5-67DA-3D95493AC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6FFF2-3087-F12E-69C4-EE2A00D99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B69A9-233A-6EEA-989F-46EBA318B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73EC3-917D-6C3A-B0D6-AD80134573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1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49D1C-6E50-EF30-D804-5AAC9368A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5D0D6-4220-5D21-75A5-DEB32E4F2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F10FAA-94CD-2066-45B7-A703A31CF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F5AC4-4945-646C-4928-A0EE4630F9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88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80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40080" y="457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chemeClr val="bg1"/>
                </a:solidFill>
              </a:rPr>
              <a:t>CITRIX INTELLIGENT OPERATIONS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Automation Use Cases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Summary Report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chemeClr val="bg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Delivered Under the Citrix Intelligent Operations Plan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4444538" cy="45720"/>
          </a:xfrm>
          <a:prstGeom prst="rect">
            <a:avLst/>
          </a:prstGeom>
          <a:solidFill>
            <a:srgbClr val="FF2D8A"/>
          </a:solidFill>
          <a:ln w="12700">
            <a:solidFill>
              <a:srgbClr val="FF2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0" y="48691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chemeClr val="bg1"/>
                </a:solidFill>
              </a:rPr>
              <a:t>May 2026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4A358-D292-E654-86C5-735057251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DB95DD-D8FE-E0E4-CD5B-572EE42E3EE4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80074"/>
          </a:solidFill>
          <a:ln w="12700">
            <a:solidFill>
              <a:srgbClr val="D800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BB3805E-4E04-3DCB-C440-8085B0532CBC}"/>
              </a:ext>
            </a:extLst>
          </p:cNvPr>
          <p:cNvSpPr/>
          <p:nvPr/>
        </p:nvSpPr>
        <p:spPr>
          <a:xfrm>
            <a:off x="365760" y="320040"/>
            <a:ext cx="8229600" cy="5187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 Usecases – Current usage</a:t>
            </a:r>
            <a:endParaRPr lang="en-US" sz="3400" dirty="0">
              <a:solidFill>
                <a:srgbClr val="D80074"/>
              </a:solidFill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7FB1DDB-B940-022F-F454-E858415A1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898297"/>
              </p:ext>
            </p:extLst>
          </p:nvPr>
        </p:nvGraphicFramePr>
        <p:xfrm>
          <a:off x="528320" y="1224852"/>
          <a:ext cx="8229600" cy="3428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444">
                  <a:extLst>
                    <a:ext uri="{9D8B030D-6E8A-4147-A177-3AD203B41FA5}">
                      <a16:colId xmlns:a16="http://schemas.microsoft.com/office/drawing/2014/main" val="2135278320"/>
                    </a:ext>
                  </a:extLst>
                </a:gridCol>
                <a:gridCol w="1710787">
                  <a:extLst>
                    <a:ext uri="{9D8B030D-6E8A-4147-A177-3AD203B41FA5}">
                      <a16:colId xmlns:a16="http://schemas.microsoft.com/office/drawing/2014/main" val="428993646"/>
                    </a:ext>
                  </a:extLst>
                </a:gridCol>
                <a:gridCol w="2588135">
                  <a:extLst>
                    <a:ext uri="{9D8B030D-6E8A-4147-A177-3AD203B41FA5}">
                      <a16:colId xmlns:a16="http://schemas.microsoft.com/office/drawing/2014/main" val="1931010803"/>
                    </a:ext>
                  </a:extLst>
                </a:gridCol>
                <a:gridCol w="1802617">
                  <a:extLst>
                    <a:ext uri="{9D8B030D-6E8A-4147-A177-3AD203B41FA5}">
                      <a16:colId xmlns:a16="http://schemas.microsoft.com/office/drawing/2014/main" val="1128243363"/>
                    </a:ext>
                  </a:extLst>
                </a:gridCol>
                <a:gridCol w="1802617">
                  <a:extLst>
                    <a:ext uri="{9D8B030D-6E8A-4147-A177-3AD203B41FA5}">
                      <a16:colId xmlns:a16="http://schemas.microsoft.com/office/drawing/2014/main" val="2027617514"/>
                    </a:ext>
                  </a:extLst>
                </a:gridCol>
              </a:tblGrid>
              <a:tr h="43424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5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  <a:endParaRPr lang="en-IN" sz="5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Usecase Name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Automation Description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Usage in June-2026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Comments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304637"/>
                  </a:ext>
                </a:extLst>
              </a:tr>
              <a:tr h="111183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800" b="1" u="none" strike="noStrike" dirty="0">
                          <a:effectLst/>
                        </a:rPr>
                        <a:t>1</a:t>
                      </a:r>
                      <a:endParaRPr lang="en-IN" sz="800" b="1" i="0" u="none" strike="noStrike" dirty="0">
                        <a:solidFill>
                          <a:srgbClr val="1F4E8C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fr-FR" sz="800" u="none" strike="noStrike" dirty="0">
                          <a:effectLst/>
                        </a:rPr>
                        <a:t>SOC1/2 &amp; ISAE 3402 Audit Automation</a:t>
                      </a:r>
                      <a:endParaRPr lang="fr-FR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Automates secure extraction and formatting of audit compliance data, ensuring instant availability for audits without manual intervention.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45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Lokesh is the only person who used the automation.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This automation will be used in the audit starting in September.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 No actions required</a:t>
                      </a:r>
                    </a:p>
                    <a:p>
                      <a:pPr algn="l" fontAlgn="ctr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/>
                </a:tc>
                <a:extLst>
                  <a:ext uri="{0D108BD9-81ED-4DB2-BD59-A6C34878D82A}">
                    <a16:rowId xmlns:a16="http://schemas.microsoft.com/office/drawing/2014/main" val="1034917392"/>
                  </a:ext>
                </a:extLst>
              </a:tr>
              <a:tr h="64603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800" b="1" u="none" strike="noStrike" dirty="0">
                          <a:effectLst/>
                        </a:rPr>
                        <a:t>2</a:t>
                      </a:r>
                      <a:endParaRPr lang="en-IN" sz="800" b="1" i="0" u="none" strike="noStrike" dirty="0">
                        <a:solidFill>
                          <a:srgbClr val="1F4E8C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Citrix Health Check After Reboot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Provides instant health reports after bi-weekly scheduled server reboots.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8</a:t>
                      </a:r>
                    </a:p>
                  </a:txBody>
                  <a:tcPr marL="4299" marR="4299" marT="4299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Only 1 person has used the automation.</a:t>
                      </a:r>
                      <a:br>
                        <a:rPr lang="en-US" sz="800" b="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800" b="0" ker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Usage needs to be increased</a:t>
                      </a:r>
                      <a:endParaRPr lang="en-IN" sz="1100" b="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8687145"/>
                  </a:ext>
                </a:extLst>
              </a:tr>
              <a:tr h="86137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800" b="1" u="none" strike="noStrike" dirty="0">
                          <a:effectLst/>
                        </a:rPr>
                        <a:t>3</a:t>
                      </a:r>
                      <a:endParaRPr lang="en-IN" sz="800" b="1" i="0" u="none" strike="noStrike" dirty="0">
                        <a:solidFill>
                          <a:srgbClr val="1F4E8C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800" u="none" strike="noStrike" dirty="0">
                          <a:effectLst/>
                        </a:rPr>
                        <a:t>Citrix Service Management</a:t>
                      </a:r>
                    </a:p>
                    <a:p>
                      <a:pPr algn="l" fontAlgn="t">
                        <a:buNone/>
                      </a:pPr>
                      <a:r>
                        <a:rPr lang="en-IN" sz="800" u="none" strike="noStrike" dirty="0">
                          <a:effectLst/>
                        </a:rPr>
                        <a:t>Automation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Automation to manage (Status, Restart, Force Restart, Stop) Citrix services on demand.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2</a:t>
                      </a:r>
                    </a:p>
                  </a:txBody>
                  <a:tcPr marL="4299" marR="4299" marT="4299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Automation is not used</a:t>
                      </a:r>
                      <a:b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Usage needs to be increased(Not been used)</a:t>
                      </a:r>
                      <a:endParaRPr lang="en-IN" sz="1100" b="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62939844"/>
                  </a:ext>
                </a:extLst>
              </a:tr>
              <a:tr h="37494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800" b="1" u="none" strike="noStrike" dirty="0">
                          <a:effectLst/>
                        </a:rPr>
                        <a:t>4</a:t>
                      </a:r>
                      <a:endParaRPr lang="en-IN" sz="800" b="1" i="0" u="none" strike="noStrike" dirty="0">
                        <a:solidFill>
                          <a:srgbClr val="1F4E8C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800" u="none" strike="noStrike" dirty="0">
                          <a:effectLst/>
                        </a:rPr>
                        <a:t>Automatic C: Drive Cleanup(TSI-Automation Framework)</a:t>
                      </a:r>
                      <a:endParaRPr lang="en-IN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Frees C:disk disk space proactively to maintain top performance..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4299" marR="4299" marT="4299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Incident Automation</a:t>
                      </a:r>
                      <a:b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800" b="0" kern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 No actions required(Not been used)</a:t>
                      </a:r>
                      <a:endParaRPr lang="en-IN" sz="800" b="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9036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6973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007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E7847D-122C-6961-1868-6C2BC7FC9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0069C0CB-A088-5D89-5CDA-061ECAB81AD6}"/>
              </a:ext>
            </a:extLst>
          </p:cNvPr>
          <p:cNvSpPr/>
          <p:nvPr/>
        </p:nvSpPr>
        <p:spPr>
          <a:xfrm>
            <a:off x="640080" y="10058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Use cases</a:t>
            </a:r>
            <a:endParaRPr lang="en-US" sz="4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8DAD532-8F1A-C757-7A27-D07B36E7D9FF}"/>
              </a:ext>
            </a:extLst>
          </p:cNvPr>
          <p:cNvSpPr/>
          <p:nvPr/>
        </p:nvSpPr>
        <p:spPr>
          <a:xfrm>
            <a:off x="715707" y="2089370"/>
            <a:ext cx="4444538" cy="45720"/>
          </a:xfrm>
          <a:prstGeom prst="rect">
            <a:avLst/>
          </a:prstGeom>
          <a:solidFill>
            <a:srgbClr val="FF2D8A"/>
          </a:solidFill>
          <a:ln w="12700">
            <a:solidFill>
              <a:srgbClr val="FF2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32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CCD90-27F4-7AA1-6763-4D7CF93EC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43EAB02-2C9C-6BA1-B73C-F17D99A43988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80074"/>
          </a:solidFill>
          <a:ln w="12700">
            <a:solidFill>
              <a:srgbClr val="D800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EE01FB-6F46-69C3-6AEE-46A5280DCE74}"/>
              </a:ext>
            </a:extLst>
          </p:cNvPr>
          <p:cNvSpPr/>
          <p:nvPr/>
        </p:nvSpPr>
        <p:spPr>
          <a:xfrm>
            <a:off x="364375" y="19594"/>
            <a:ext cx="8229600" cy="532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“Completed” Usecases</a:t>
            </a:r>
            <a:endParaRPr lang="en-US" sz="3400" dirty="0">
              <a:solidFill>
                <a:srgbClr val="D80074"/>
              </a:solidFill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B0189203-CFF0-8190-2E59-86856811F5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155363"/>
              </p:ext>
            </p:extLst>
          </p:nvPr>
        </p:nvGraphicFramePr>
        <p:xfrm>
          <a:off x="407318" y="552077"/>
          <a:ext cx="8290115" cy="37260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135278320"/>
                    </a:ext>
                  </a:extLst>
                </a:gridCol>
                <a:gridCol w="955462">
                  <a:extLst>
                    <a:ext uri="{9D8B030D-6E8A-4147-A177-3AD203B41FA5}">
                      <a16:colId xmlns:a16="http://schemas.microsoft.com/office/drawing/2014/main" val="428993646"/>
                    </a:ext>
                  </a:extLst>
                </a:gridCol>
                <a:gridCol w="1577627">
                  <a:extLst>
                    <a:ext uri="{9D8B030D-6E8A-4147-A177-3AD203B41FA5}">
                      <a16:colId xmlns:a16="http://schemas.microsoft.com/office/drawing/2014/main" val="4192489611"/>
                    </a:ext>
                  </a:extLst>
                </a:gridCol>
                <a:gridCol w="1697027">
                  <a:extLst>
                    <a:ext uri="{9D8B030D-6E8A-4147-A177-3AD203B41FA5}">
                      <a16:colId xmlns:a16="http://schemas.microsoft.com/office/drawing/2014/main" val="1931010803"/>
                    </a:ext>
                  </a:extLst>
                </a:gridCol>
                <a:gridCol w="2310338">
                  <a:extLst>
                    <a:ext uri="{9D8B030D-6E8A-4147-A177-3AD203B41FA5}">
                      <a16:colId xmlns:a16="http://schemas.microsoft.com/office/drawing/2014/main" val="792614815"/>
                    </a:ext>
                  </a:extLst>
                </a:gridCol>
                <a:gridCol w="636796">
                  <a:extLst>
                    <a:ext uri="{9D8B030D-6E8A-4147-A177-3AD203B41FA5}">
                      <a16:colId xmlns:a16="http://schemas.microsoft.com/office/drawing/2014/main" val="386768526"/>
                    </a:ext>
                  </a:extLst>
                </a:gridCol>
                <a:gridCol w="950305">
                  <a:extLst>
                    <a:ext uri="{9D8B030D-6E8A-4147-A177-3AD203B41FA5}">
                      <a16:colId xmlns:a16="http://schemas.microsoft.com/office/drawing/2014/main" val="1128243363"/>
                    </a:ext>
                  </a:extLst>
                </a:gridCol>
              </a:tblGrid>
              <a:tr h="6442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Usecase Name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r>
                        <a:rPr lang="en-IN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bjective</a:t>
                      </a: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Automation Description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Value &amp; Benefits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ETA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Comments</a:t>
                      </a:r>
                      <a:endParaRPr lang="en-IN" sz="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304637"/>
                  </a:ext>
                </a:extLst>
              </a:tr>
              <a:tr h="13118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1</a:t>
                      </a:r>
                      <a:endParaRPr lang="en-IN" sz="8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Automate RDS License reporting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Ensure compliance, avoid financial penalties, support audit readiness, and improve license forecasting.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Automates license usage tracking, compliance validation, and forecasting reports for RDS environments.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1. Audit-ready at all times — no manual checks. </a:t>
                      </a:r>
                      <a:b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2. Prevents costly penalties and fines. </a:t>
                      </a:r>
                      <a:b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3. Improves forecasting accuracy for future license needs. </a:t>
                      </a:r>
                      <a:b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4. Saves weeks of manual reconciliation effort.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30.06.2026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-It's completed from My end.</a:t>
                      </a:r>
                    </a:p>
                    <a:p>
                      <a:pPr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-Comunda team working to integrate  my script in PROD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4917392"/>
                  </a:ext>
                </a:extLst>
              </a:tr>
              <a:tr h="17699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t">
                        <a:buNone/>
                      </a:pP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n-IN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t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l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Automate VC Lite - Monthly Billing Report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dirty="0"/>
                        <a:t>Optimize and strengthen the billing process, ensure transparency, reduce manual effort, and improve cost control.</a:t>
                      </a:r>
                      <a:endParaRPr lang="en-US" sz="800" u="none" strike="noStrike" dirty="0">
                        <a:effectLst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800" dirty="0"/>
                        <a:t>Automates the generation, validation, and distribution of monthly billing reports for VC Lite usage. Integrates usage data, applies cost allocation rules, and produces audit-ready summaries without manual intervention.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marL="228600" lvl="0" indent="-228600" algn="l" fontAlgn="t">
                        <a:buAutoNum type="arabicPeriod"/>
                      </a:pPr>
                      <a:r>
                        <a:rPr lang="en-US" sz="800" u="none" strike="noStrike" dirty="0">
                          <a:effectLst/>
                        </a:rPr>
                        <a:t>Direct cost reduction through accurate tracking of VDI usage. </a:t>
                      </a:r>
                    </a:p>
                    <a:p>
                      <a:pPr marL="228600" lvl="0" indent="-228600" algn="l" fontAlgn="t">
                        <a:buAutoNum type="arabicPeriod"/>
                      </a:pPr>
                      <a:r>
                        <a:rPr lang="en-US" sz="800" u="none" strike="noStrike" dirty="0">
                          <a:effectLst/>
                        </a:rPr>
                        <a:t>Eliminates manual report preparation, saving hours of effort monthly.</a:t>
                      </a:r>
                    </a:p>
                    <a:p>
                      <a:pPr marL="228600" lvl="0" indent="-228600" algn="l" fontAlgn="t">
                        <a:buAutoNum type="arabicPeriod"/>
                      </a:pPr>
                      <a:r>
                        <a:rPr lang="en-US" sz="800" u="none" strike="noStrike" dirty="0">
                          <a:effectLst/>
                        </a:rPr>
                        <a:t> Improves billing accuracy and prevents revenue leakage.</a:t>
                      </a:r>
                    </a:p>
                    <a:p>
                      <a:pPr marL="228600" lvl="0" indent="-228600" algn="l" fontAlgn="t">
                        <a:buAutoNum type="arabicPeriod"/>
                      </a:pPr>
                      <a:r>
                        <a:rPr lang="en-US" sz="800" u="none" strike="noStrike" dirty="0">
                          <a:effectLst/>
                        </a:rPr>
                        <a:t> Provides audit-ready billing transparency for finance teams. </a:t>
                      </a:r>
                    </a:p>
                    <a:p>
                      <a:pPr marL="228600" lvl="0" indent="-228600" algn="l" fontAlgn="t">
                        <a:buAutoNum type="arabicPeriod"/>
                      </a:pPr>
                      <a:r>
                        <a:rPr lang="en-US" sz="800" u="none" strike="noStrike" dirty="0">
                          <a:effectLst/>
                        </a:rPr>
                        <a:t>Enables proactive cost forecasting and budget planning..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ptos" panose="020B0004020202020204" pitchFamily="34" charset="0"/>
                          <a:cs typeface="+mn-cs"/>
                        </a:rPr>
                        <a:t>30.06.2026</a:t>
                      </a:r>
                      <a:endParaRPr kumimoji="0" lang="en-I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ptos" panose="020B0004020202020204" pitchFamily="34" charset="0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4299" marR="4299" marT="4299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-It's completed from My end.</a:t>
                      </a:r>
                    </a:p>
                    <a:p>
                      <a:pPr algn="l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-Comunda teamworking  to  integrate my script in PROD</a:t>
                      </a:r>
                      <a:endParaRPr lang="en-IN" sz="8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4299" marR="4299" marT="4299" marB="0"/>
                </a:tc>
                <a:extLst>
                  <a:ext uri="{0D108BD9-81ED-4DB2-BD59-A6C34878D82A}">
                    <a16:rowId xmlns:a16="http://schemas.microsoft.com/office/drawing/2014/main" val="1473704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2392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007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63684-2FA5-CA56-E3DA-9F1766C15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9DC74128-B7F7-59E4-1491-A6086BD9231E}"/>
              </a:ext>
            </a:extLst>
          </p:cNvPr>
          <p:cNvSpPr/>
          <p:nvPr/>
        </p:nvSpPr>
        <p:spPr>
          <a:xfrm>
            <a:off x="640080" y="10058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Use cases</a:t>
            </a:r>
            <a:endParaRPr lang="en-US" sz="4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37C5FF5-1FF9-A284-38D3-0638F3B51DC3}"/>
              </a:ext>
            </a:extLst>
          </p:cNvPr>
          <p:cNvSpPr/>
          <p:nvPr/>
        </p:nvSpPr>
        <p:spPr>
          <a:xfrm>
            <a:off x="715707" y="2089370"/>
            <a:ext cx="4444538" cy="45720"/>
          </a:xfrm>
          <a:prstGeom prst="rect">
            <a:avLst/>
          </a:prstGeom>
          <a:solidFill>
            <a:srgbClr val="FF2D8A"/>
          </a:solidFill>
          <a:ln w="12700">
            <a:solidFill>
              <a:srgbClr val="FF2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999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AE64D-7663-695C-C61B-462DA187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4B52F7-7837-0129-CDD8-40B05A849939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80074"/>
          </a:solidFill>
          <a:ln w="12700">
            <a:solidFill>
              <a:srgbClr val="D800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5BC4201-55DA-06D5-89D3-4DE8AAA02DA2}"/>
              </a:ext>
            </a:extLst>
          </p:cNvPr>
          <p:cNvSpPr/>
          <p:nvPr/>
        </p:nvSpPr>
        <p:spPr>
          <a:xfrm>
            <a:off x="364375" y="19594"/>
            <a:ext cx="8229600" cy="5324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“Approved” Usecases</a:t>
            </a:r>
            <a:endParaRPr lang="en-US" sz="3400" dirty="0">
              <a:solidFill>
                <a:srgbClr val="D80074"/>
              </a:solidFill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43659E5-F1CE-F2CD-6453-CC0666AB96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91244"/>
              </p:ext>
            </p:extLst>
          </p:nvPr>
        </p:nvGraphicFramePr>
        <p:xfrm>
          <a:off x="407318" y="552077"/>
          <a:ext cx="8290115" cy="26194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560">
                  <a:extLst>
                    <a:ext uri="{9D8B030D-6E8A-4147-A177-3AD203B41FA5}">
                      <a16:colId xmlns:a16="http://schemas.microsoft.com/office/drawing/2014/main" val="2135278320"/>
                    </a:ext>
                  </a:extLst>
                </a:gridCol>
                <a:gridCol w="955462">
                  <a:extLst>
                    <a:ext uri="{9D8B030D-6E8A-4147-A177-3AD203B41FA5}">
                      <a16:colId xmlns:a16="http://schemas.microsoft.com/office/drawing/2014/main" val="428993646"/>
                    </a:ext>
                  </a:extLst>
                </a:gridCol>
                <a:gridCol w="1577627">
                  <a:extLst>
                    <a:ext uri="{9D8B030D-6E8A-4147-A177-3AD203B41FA5}">
                      <a16:colId xmlns:a16="http://schemas.microsoft.com/office/drawing/2014/main" val="4192489611"/>
                    </a:ext>
                  </a:extLst>
                </a:gridCol>
                <a:gridCol w="1697027">
                  <a:extLst>
                    <a:ext uri="{9D8B030D-6E8A-4147-A177-3AD203B41FA5}">
                      <a16:colId xmlns:a16="http://schemas.microsoft.com/office/drawing/2014/main" val="1931010803"/>
                    </a:ext>
                  </a:extLst>
                </a:gridCol>
                <a:gridCol w="2310338">
                  <a:extLst>
                    <a:ext uri="{9D8B030D-6E8A-4147-A177-3AD203B41FA5}">
                      <a16:colId xmlns:a16="http://schemas.microsoft.com/office/drawing/2014/main" val="792614815"/>
                    </a:ext>
                  </a:extLst>
                </a:gridCol>
                <a:gridCol w="636796">
                  <a:extLst>
                    <a:ext uri="{9D8B030D-6E8A-4147-A177-3AD203B41FA5}">
                      <a16:colId xmlns:a16="http://schemas.microsoft.com/office/drawing/2014/main" val="386768526"/>
                    </a:ext>
                  </a:extLst>
                </a:gridCol>
                <a:gridCol w="950305">
                  <a:extLst>
                    <a:ext uri="{9D8B030D-6E8A-4147-A177-3AD203B41FA5}">
                      <a16:colId xmlns:a16="http://schemas.microsoft.com/office/drawing/2014/main" val="1128243363"/>
                    </a:ext>
                  </a:extLst>
                </a:gridCol>
              </a:tblGrid>
              <a:tr h="30335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Usecase Name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O</a:t>
                      </a:r>
                      <a:r>
                        <a:rPr lang="en-IN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bjective</a:t>
                      </a: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Automation Description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Value &amp; Benefits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ETA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Comments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304637"/>
                  </a:ext>
                </a:extLst>
              </a:tr>
              <a:tr h="83344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6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VCLite Image Patching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Maintain system reliability, reduce vulnerabilities, ensure smooth user experience, and minimize downtime.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Automates patch deployment and validation for VCLite images, ensuring consistent and secure updates.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1. Eliminates patching delays and human errors. </a:t>
                      </a:r>
                      <a:b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2. Reduces vulnerabilities and strengthens security posture. </a:t>
                      </a:r>
                      <a:b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3. Ensures consistent user experience with fewer disruptions. </a:t>
                      </a:r>
                      <a:b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4. Cuts downtime by automating patch cycles.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ptos" panose="020B0004020202020204" pitchFamily="34" charset="0"/>
                          <a:cs typeface="+mn-cs"/>
                        </a:rPr>
                        <a:t>30.09.2026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ptos" panose="020B0004020202020204" pitchFamily="34" charset="0"/>
                          <a:cs typeface="+mn-cs"/>
                        </a:rPr>
                        <a:t>-Currently assessment in Progress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8687145"/>
                  </a:ext>
                </a:extLst>
              </a:tr>
              <a:tr h="7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6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3</a:t>
                      </a:r>
                      <a:endParaRPr lang="en-IN" sz="6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Automated Profile Refresh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Enhance user experience, reduce login issues, and improve application stability.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Automates user profile refresh cycles to clear stale configurations and improve login consistency.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1. Reduces login failures and delays. </a:t>
                      </a:r>
                      <a:b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2. Improves application stability across sessions. </a:t>
                      </a:r>
                      <a:b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3. Enhances employee productivity with smoother logins. </a:t>
                      </a:r>
                      <a:b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4. Removes repetitive manual troubleshooting tasks.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ptos" panose="020B0004020202020204" pitchFamily="34" charset="0"/>
                          <a:cs typeface="+mn-cs"/>
                        </a:rPr>
                        <a:t>31.07.2026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ptos" panose="020B0004020202020204" pitchFamily="34" charset="0"/>
                          <a:cs typeface="+mn-cs"/>
                        </a:rPr>
                        <a:t>-Currently assessment in Progress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marL="4299" marR="4299" marT="4299" marB="0" anchor="ctr"/>
                </a:tc>
                <a:extLst>
                  <a:ext uri="{0D108BD9-81ED-4DB2-BD59-A6C34878D82A}">
                    <a16:rowId xmlns:a16="http://schemas.microsoft.com/office/drawing/2014/main" val="1962939844"/>
                  </a:ext>
                </a:extLst>
              </a:tr>
              <a:tr h="741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6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4</a:t>
                      </a:r>
                      <a:endParaRPr lang="en-IN" sz="6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SSL Certificate Lifecycle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Ensure secure connectivity, maintain compliance, protect business continuity, and reduce risk of outages.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Automates SSL certificate issuance, renewal, and deployment across Citrix infrastructure.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1. Prevents outages due to expired certificates. </a:t>
                      </a:r>
                      <a:b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2. Ensures continuous secure connectivity. </a:t>
                      </a:r>
                      <a:b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3. Maintains compliance with industry standards. </a:t>
                      </a:r>
                      <a:b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</a:br>
                      <a:r>
                        <a:rPr lang="en-IN" sz="6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</a:rPr>
                        <a:t> 4. Reduces manual certificate management workload.</a:t>
                      </a:r>
                      <a:endParaRPr lang="en-IN" sz="600" dirty="0"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ptos" panose="020B0004020202020204" pitchFamily="34" charset="0"/>
                          <a:cs typeface="+mn-cs"/>
                        </a:rPr>
                        <a:t>31.08.2026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Aptos" panose="020B0004020202020204" pitchFamily="34" charset="0"/>
                          <a:cs typeface="+mn-cs"/>
                        </a:rPr>
                        <a:t>-Currently assessment in Progress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Aptos" panose="020B0004020202020204" pitchFamily="34" charset="0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9036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441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8007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EE8DAB-AAA2-D11F-37E3-88EF9FCF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>
            <a:extLst>
              <a:ext uri="{FF2B5EF4-FFF2-40B4-BE49-F238E27FC236}">
                <a16:creationId xmlns:a16="http://schemas.microsoft.com/office/drawing/2014/main" id="{3DA077BF-1836-64AB-F8A6-08ABF1AF22B9}"/>
              </a:ext>
            </a:extLst>
          </p:cNvPr>
          <p:cNvSpPr/>
          <p:nvPr/>
        </p:nvSpPr>
        <p:spPr>
          <a:xfrm>
            <a:off x="640080" y="1005840"/>
            <a:ext cx="6858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Use cases</a:t>
            </a:r>
            <a:endParaRPr lang="en-US" sz="4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1DCF7A0-3E21-2C66-E44C-814D549D9495}"/>
              </a:ext>
            </a:extLst>
          </p:cNvPr>
          <p:cNvSpPr/>
          <p:nvPr/>
        </p:nvSpPr>
        <p:spPr>
          <a:xfrm>
            <a:off x="715707" y="2089370"/>
            <a:ext cx="4444538" cy="45720"/>
          </a:xfrm>
          <a:prstGeom prst="rect">
            <a:avLst/>
          </a:prstGeom>
          <a:solidFill>
            <a:srgbClr val="FF2D8A"/>
          </a:solidFill>
          <a:ln w="12700">
            <a:solidFill>
              <a:srgbClr val="FF2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607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33930-E2C5-CDEB-1D22-DCBB6186E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D0B609-6C08-500C-6B49-BC164117F5E2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80074"/>
          </a:solidFill>
          <a:ln w="12700">
            <a:solidFill>
              <a:srgbClr val="D8007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5E04BD-D27F-B9C0-0F21-0FFC4F3DE6A3}"/>
              </a:ext>
            </a:extLst>
          </p:cNvPr>
          <p:cNvSpPr/>
          <p:nvPr/>
        </p:nvSpPr>
        <p:spPr>
          <a:xfrm>
            <a:off x="365760" y="320040"/>
            <a:ext cx="8229600" cy="4981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800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Backlog Usecases</a:t>
            </a:r>
            <a:endParaRPr lang="en-US" sz="3400" dirty="0">
              <a:solidFill>
                <a:srgbClr val="D80074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C308D4-E423-E7A6-5439-591257F7A6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436472"/>
              </p:ext>
            </p:extLst>
          </p:nvPr>
        </p:nvGraphicFramePr>
        <p:xfrm>
          <a:off x="439688" y="960122"/>
          <a:ext cx="8081743" cy="2968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3415">
                  <a:extLst>
                    <a:ext uri="{9D8B030D-6E8A-4147-A177-3AD203B41FA5}">
                      <a16:colId xmlns:a16="http://schemas.microsoft.com/office/drawing/2014/main" val="3503748073"/>
                    </a:ext>
                  </a:extLst>
                </a:gridCol>
                <a:gridCol w="2225186">
                  <a:extLst>
                    <a:ext uri="{9D8B030D-6E8A-4147-A177-3AD203B41FA5}">
                      <a16:colId xmlns:a16="http://schemas.microsoft.com/office/drawing/2014/main" val="2172715008"/>
                    </a:ext>
                  </a:extLst>
                </a:gridCol>
                <a:gridCol w="2493839">
                  <a:extLst>
                    <a:ext uri="{9D8B030D-6E8A-4147-A177-3AD203B41FA5}">
                      <a16:colId xmlns:a16="http://schemas.microsoft.com/office/drawing/2014/main" val="2129033220"/>
                    </a:ext>
                  </a:extLst>
                </a:gridCol>
                <a:gridCol w="838439">
                  <a:extLst>
                    <a:ext uri="{9D8B030D-6E8A-4147-A177-3AD203B41FA5}">
                      <a16:colId xmlns:a16="http://schemas.microsoft.com/office/drawing/2014/main" val="2086605906"/>
                    </a:ext>
                  </a:extLst>
                </a:gridCol>
                <a:gridCol w="573219">
                  <a:extLst>
                    <a:ext uri="{9D8B030D-6E8A-4147-A177-3AD203B41FA5}">
                      <a16:colId xmlns:a16="http://schemas.microsoft.com/office/drawing/2014/main" val="3748133848"/>
                    </a:ext>
                  </a:extLst>
                </a:gridCol>
                <a:gridCol w="1397645">
                  <a:extLst>
                    <a:ext uri="{9D8B030D-6E8A-4147-A177-3AD203B41FA5}">
                      <a16:colId xmlns:a16="http://schemas.microsoft.com/office/drawing/2014/main" val="3924835222"/>
                    </a:ext>
                  </a:extLst>
                </a:gridCol>
              </a:tblGrid>
              <a:tr h="22653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#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Usecase Name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Objective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Status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ETA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Comments</a:t>
                      </a:r>
                      <a:endParaRPr lang="en-IN" sz="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99" marR="4299" marT="4299" marB="0" anchor="ctr">
                    <a:solidFill>
                      <a:srgbClr val="D800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288642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 dirty="0">
                          <a:effectLst/>
                        </a:rPr>
                        <a:t>1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600" dirty="0"/>
                        <a:t>Automate the Layer transfer between Regions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dirty="0"/>
                        <a:t>Ensure resilience, enable disaster recovery, and reduce risk of service disruption.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3750916398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Citrix-Application onboarding automation</a:t>
                      </a: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Accelerate application delivery, reduce manual effort, improve consistency, and enhance agility for business needs.</a:t>
                      </a: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ctr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1024036973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 dirty="0">
                          <a:effectLst/>
                        </a:rPr>
                        <a:t>3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Desktop publishing automation (for VC desktop)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Increase operational efficiency, reduce turnaround time, improve agility, and support faster user onboarding.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2137282196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 dirty="0">
                          <a:effectLst/>
                        </a:rPr>
                        <a:t>4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VDI Power Optimization</a:t>
                      </a: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Automate the stopping and restarting of Virtual Desktops (VDIs) in Azure to optimize resource utilization and reduce unnecessary consumption.</a:t>
                      </a:r>
                    </a:p>
                  </a:txBody>
                  <a:tcPr marL="4299" marR="4299" marT="4299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Cancelled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2279254829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 dirty="0">
                          <a:effectLst/>
                        </a:rPr>
                        <a:t>5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Studio Policy automation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Standardize governance, improve compliance, reduce configuration errors, and ensure policy consistency.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3850838107"/>
                  </a:ext>
                </a:extLst>
              </a:tr>
              <a:tr h="33135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Assess feasibility of user-triggered profile reset automation </a:t>
                      </a: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User can reset profile Ad-Hoc and at any moment.</a:t>
                      </a: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1209026161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IN" sz="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Unused VDI Deletion (last 3 months)</a:t>
                      </a: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Optimize resource utilization, reduce costs, and improve operational efficiency.</a:t>
                      </a: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2784443577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IN" sz="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User Logs needs to be checked once a week and see if the GPO is applied or not..</a:t>
                      </a: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  <a:p>
                      <a:pPr algn="l" fontAlgn="t">
                        <a:buNone/>
                      </a:pPr>
                      <a:endParaRPr lang="en-US" sz="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Ensure governance, enforce policies, detect deviations early, and strengthen audit readiness.</a:t>
                      </a: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2525973190"/>
                  </a:ext>
                </a:extLst>
              </a:tr>
              <a:tr h="30132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IN" sz="6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CPU Utilization Request</a:t>
                      </a: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Improve performance monitoring, prevent resource bottlenecks, and support proactive scaling.</a:t>
                      </a:r>
                    </a:p>
                  </a:txBody>
                  <a:tcPr marL="4660" marR="4660" marT="466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New</a:t>
                      </a:r>
                      <a:endParaRPr kumimoji="0" lang="en-IN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660" marR="4660" marT="466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2026</a:t>
                      </a:r>
                    </a:p>
                  </a:txBody>
                  <a:tcPr marL="4660" marR="4660" marT="466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660" marR="4660" marT="4660" marB="0" anchor="b"/>
                </a:tc>
                <a:extLst>
                  <a:ext uri="{0D108BD9-81ED-4DB2-BD59-A6C34878D82A}">
                    <a16:rowId xmlns:a16="http://schemas.microsoft.com/office/drawing/2014/main" val="3991612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451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00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CCE8"/>
                </a:solidFill>
              </a:rPr>
              <a:t>Citrix Intelligent Operations Automation Program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rgbClr val="FF2D8A"/>
          </a:solidFill>
          <a:ln w="12700">
            <a:solidFill>
              <a:srgbClr val="FF2D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de4dffc-4b60-4cf6-8b04-a5eeb25f5c4f}" enabled="0" method="" siteId="{bde4dffc-4b60-4cf6-8b04-a5eeb25f5c4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949</Words>
  <Application>Microsoft Office PowerPoint</Application>
  <PresentationFormat>On-screen Show (16:9)</PresentationFormat>
  <Paragraphs>160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Narrow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Citrix Intelligent Operations – Automation Use Cases</dc:title>
  <dc:subject>PptxGenJS Presentation</dc:subject>
  <dc:creator>PptxGenJS</dc:creator>
  <cp:lastModifiedBy>VEMAPALLI, LOKESH</cp:lastModifiedBy>
  <cp:revision>55</cp:revision>
  <dcterms:created xsi:type="dcterms:W3CDTF">2026-04-29T03:06:58Z</dcterms:created>
  <dcterms:modified xsi:type="dcterms:W3CDTF">2026-06-30T19:54:37Z</dcterms:modified>
</cp:coreProperties>
</file>